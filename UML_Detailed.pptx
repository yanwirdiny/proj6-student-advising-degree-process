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86afb9b6a642db" /><Relationship Type="http://schemas.openxmlformats.org/officeDocument/2006/relationships/extended-properties" Target="/docProps/app.xml" Id="Rd71f6ee563314ec9" /><Relationship Type="http://schemas.openxmlformats.org/officeDocument/2006/relationships/officeDocument" Target="/ppt/presentation.xml" Id="R627600049d5348ea" /></Relationships>
</file>

<file path=ppt/presentation.xml><?xml version="1.0" encoding="utf-8"?>
<p:presentation xmlns:p="http://schemas.openxmlformats.org/presentationml/2006/main">
  <p:sldMasterIdLst>
    <p:sldMasterId xmlns:r="http://schemas.openxmlformats.org/officeDocument/2006/relationships" id="2147483648" r:id="Rd8267157128a4984"/>
  </p:sldMasterIdLst>
  <p:notesMasterIdLst>
    <p:notesMasterId xmlns:r="http://schemas.openxmlformats.org/officeDocument/2006/relationships" r:id="Ra98d114d27674e8e"/>
  </p:notesMasterIdLst>
  <p:sldIdLst>
    <p:sldId xmlns:r="http://schemas.openxmlformats.org/officeDocument/2006/relationships" id="256" r:id="R56a05d04c5954175"/>
    <p:sldId xmlns:r="http://schemas.openxmlformats.org/officeDocument/2006/relationships" id="257" r:id="R58b7ce3abb31495b"/>
    <p:sldId xmlns:r="http://schemas.openxmlformats.org/officeDocument/2006/relationships" id="258" r:id="R8b8f847e758d4ec0"/>
    <p:sldId xmlns:r="http://schemas.openxmlformats.org/officeDocument/2006/relationships" id="259" r:id="R596f0d8d3e49417b"/>
    <p:sldId xmlns:r="http://schemas.openxmlformats.org/officeDocument/2006/relationships" id="260" r:id="R1710900444de4dcc"/>
    <p:sldId xmlns:r="http://schemas.openxmlformats.org/officeDocument/2006/relationships" id="261" r:id="Rf0a1a4da6cb145e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10f591962d442d" /><Relationship Type="http://schemas.openxmlformats.org/officeDocument/2006/relationships/slideMaster" Target="/ppt/slideMasters/slideMaster1.xml" Id="Rd8267157128a4984" /><Relationship Type="http://schemas.openxmlformats.org/officeDocument/2006/relationships/notesMaster" Target="/ppt/notesMasters/notesMaster1.xml" Id="Ra98d114d27674e8e" /><Relationship Type="http://schemas.openxmlformats.org/officeDocument/2006/relationships/presProps" Target="/ppt/presProps.xml" Id="R8b3a7e645b76404d" /><Relationship Type="http://schemas.openxmlformats.org/officeDocument/2006/relationships/tableStyles" Target="/ppt/tableStyles.xml" Id="R971f3c20846a4656" /><Relationship Type="http://schemas.openxmlformats.org/officeDocument/2006/relationships/slide" Target="/ppt/slides/slide1.xml" Id="R56a05d04c5954175" /><Relationship Type="http://schemas.openxmlformats.org/officeDocument/2006/relationships/slide" Target="/ppt/slides/slide2.xml" Id="R58b7ce3abb31495b" /><Relationship Type="http://schemas.openxmlformats.org/officeDocument/2006/relationships/slide" Target="/ppt/slides/slide3.xml" Id="R8b8f847e758d4ec0" /><Relationship Type="http://schemas.openxmlformats.org/officeDocument/2006/relationships/slide" Target="/ppt/slides/slide4.xml" Id="R596f0d8d3e49417b" /><Relationship Type="http://schemas.openxmlformats.org/officeDocument/2006/relationships/slide" Target="/ppt/slides/slide5.xml" Id="R1710900444de4dcc" /><Relationship Type="http://schemas.openxmlformats.org/officeDocument/2006/relationships/slide" Target="/ppt/slides/slide6.xml" Id="Rf0a1a4da6cb145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dc32d5fa8d4b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7b5dced7fd41f3" /><Relationship Type="http://schemas.openxmlformats.org/officeDocument/2006/relationships/notesMaster" Target="/ppt/notesMasters/notesMaster1.xml" Id="Rb0288e9b82a34e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94a833b2f46e1" /><Relationship Type="http://schemas.openxmlformats.org/officeDocument/2006/relationships/notesMaster" Target="/ppt/notesMasters/notesMaster1.xml" Id="Rf9e8700763e742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c2abecb29042a9" /><Relationship Type="http://schemas.openxmlformats.org/officeDocument/2006/relationships/notesMaster" Target="/ppt/notesMasters/notesMaster1.xml" Id="Rd913940aa6534f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627f8906604d5a" /><Relationship Type="http://schemas.openxmlformats.org/officeDocument/2006/relationships/notesMaster" Target="/ppt/notesMasters/notesMaster1.xml" Id="Rde383d7da03d4a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c6e2069866484f" /><Relationship Type="http://schemas.openxmlformats.org/officeDocument/2006/relationships/notesMaster" Target="/ppt/notesMasters/notesMaster1.xml" Id="R0051d9c1e83b47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d3e006de3d452e" /><Relationship Type="http://schemas.openxmlformats.org/officeDocument/2006/relationships/notesMaster" Target="/ppt/notesMasters/notesMaster1.xml" Id="R432f0fa5b29045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UML screenshot image(20261016-033721).png and assignment screenshots image(20261016-033646).png through image(20261016-033709).png. This is a proposed refinement. Unconfirmed implementation choices appear as assumptions or open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UML screenshot image(20261016-033721).png and assignment screenshots image(20261016-033646).png through image(20261016-033709).png. This is a proposed refinement. Unconfirmed implementation choices appear as assumptions or open questions. Composition: each Requirement belongs to exactly one Curriculum. Shared Course objects survive deletion of a Curriculum. Course.prereqs is a self-association with zero or more prerequisites, omitted as a line for readability. Requirement also uses Student through isSatisfiedBy(). RequirementType = ALL, ANY, AT_LEAST. Subject values follow the imported catalog. All UML objects and connectors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UML screenshot image(20261016-033721).png and assignment screenshots image(20261016-033646).png through image(20261016-033709).png. This is a proposed refinement. Unconfirmed implementation choices appear as assumptions or open questions. Composition assumes Requirement instances are not shared across curricula. Course.prereqs references other Course instances. makeReqTree organizes curriculum rules, rather than evaluating student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UML screenshot image(20261016-033721).png and assignment screenshots image(20261016-033646).png through image(20261016-033709).png. This is a proposed refinement. Unconfirmed implementation choices appear as assumptions or open questions. The user did not provide a separate requirements document. These mappings describe the functions visible in the source UML, rather than claiming additional confirmed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UML screenshot image(20261016-033721).png and assignment screenshots image(20261016-033646).png through image(20261016-033709).png. This is a proposed refinement. Unconfirmed implementation choices appear as assumptions or open questions. This is a planned structure, not an existing repository. Initial meaningful tests: incomplete ALL rule, ANY rule with one completed item, unmet prerequisites, empty completion history, and prerequisite cycles.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UML screenshot image(20261016-033721).png and assignment screenshots image(20261016-033646).png through image(20261016-033709).png. This is a proposed refinement. Unconfirmed implementation choices appear as assumptions or open questions. These are proposed assumptions and unresolved decisions, not confirmed project requirements. ALL requires every item, ANY requires at least one item, and AT_LEAST uses minimumCount. Empty or invalid rule configurations should be rejected. Extra completions use stable string keys in the initial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e43557795a43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e4ab01793b4e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9fd798417e43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748c639f234b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d0e22cbb2094b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b1a0c7d23446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F019A6-4A90-47F5-A0B9-6A12062C8EBD}"/>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193BBE6-074E-4BFC-AF6E-FB4058275C08}"/>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5252E4-7FEC-49F6-ADAD-14D3781408EF}"/>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9CA90C-F765-4654-9B56-38E9341E7B1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60B976-7BA9-4775-BE6E-F3455790567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E7ACA2-9D65-43F2-A1A4-BA119AC4472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A16EDC-0E13-4629-9C27-8740B5EED89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A57444-4A4D-4C15-984C-9578DB94500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26820D-C868-4FB8-B287-EFA27EF5A43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6B0B9-BAF5-44CE-8C75-E2328B93416E}"/>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8e47c3ae4644b5" /><Relationship Type="http://schemas.openxmlformats.org/officeDocument/2006/relationships/slideLayout" Target="/ppt/slideLayouts/slideLayout1.xml" Id="Rc4c1f1f3ec7c4e40" /><Relationship Type="http://schemas.openxmlformats.org/officeDocument/2006/relationships/slideLayout" Target="/ppt/slideLayouts/slideLayout2.xml" Id="Rc7931ec4f8794fa8" /><Relationship Type="http://schemas.openxmlformats.org/officeDocument/2006/relationships/slideLayout" Target="/ppt/slideLayouts/slideLayout3.xml" Id="R51c2b0f667704fb7" /><Relationship Type="http://schemas.openxmlformats.org/officeDocument/2006/relationships/slideLayout" Target="/ppt/slideLayouts/slideLayout4.xml" Id="R589d8d55614a4731" /><Relationship Type="http://schemas.openxmlformats.org/officeDocument/2006/relationships/slideLayout" Target="/ppt/slideLayouts/slideLayout5.xml" Id="Rf55a4b0502fc44e7" /><Relationship Type="http://schemas.openxmlformats.org/officeDocument/2006/relationships/slideLayout" Target="/ppt/slideLayouts/slideLayout6.xml" Id="R8a4a953cb10c49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c1f1f3ec7c4e40"/>
    <p:sldLayoutId xmlns:r="http://schemas.openxmlformats.org/officeDocument/2006/relationships" id="2147483650" r:id="Rc7931ec4f8794fa8"/>
    <p:sldLayoutId xmlns:r="http://schemas.openxmlformats.org/officeDocument/2006/relationships" id="2147483651" r:id="R51c2b0f667704fb7"/>
    <p:sldLayoutId xmlns:r="http://schemas.openxmlformats.org/officeDocument/2006/relationships" id="2147483652" r:id="R589d8d55614a4731"/>
    <p:sldLayoutId xmlns:r="http://schemas.openxmlformats.org/officeDocument/2006/relationships" id="2147483653" r:id="Rf55a4b0502fc44e7"/>
    <p:sldLayoutId xmlns:r="http://schemas.openxmlformats.org/officeDocument/2006/relationships" id="2147483654" r:id="R8a4a953cb10c49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f0aa8dce0c4106" /><Relationship Type="http://schemas.openxmlformats.org/officeDocument/2006/relationships/notesSlide" Target="/ppt/notesSlides/notesSlide1.xml" Id="R6394d55dc7cb42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949f334a294e3d" /><Relationship Type="http://schemas.openxmlformats.org/officeDocument/2006/relationships/notesSlide" Target="/ppt/notesSlides/notesSlide2.xml" Id="R0dd5d9409df6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f77a93696445f6" /><Relationship Type="http://schemas.openxmlformats.org/officeDocument/2006/relationships/notesSlide" Target="/ppt/notesSlides/notesSlide3.xml" Id="R76d63b5f3c9147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8070e0336bc4280" /><Relationship Type="http://schemas.openxmlformats.org/officeDocument/2006/relationships/notesSlide" Target="/ppt/notesSlides/notesSlide4.xml" Id="Rcac641390fc843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02e05d84eb42ab" /><Relationship Type="http://schemas.openxmlformats.org/officeDocument/2006/relationships/notesSlide" Target="/ppt/notesSlides/notesSlide5.xml" Id="R317cf935f57740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3665fbacf24e1f" /><Relationship Type="http://schemas.openxmlformats.org/officeDocument/2006/relationships/notesSlide" Target="/ppt/notesSlides/notesSlide6.xml" Id="R746167f7018748a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B83B063-DB88-48DB-AB72-209A5076B341}"/>
              </a:ext>
            </a:extLst>
          </p:cNvPr>
          <p:cNvSpPr>
            <a:spLocks xmlns:a="http://schemas.openxmlformats.org/drawingml/2006/main" noGrp="1"/>
          </p:cNvSpPr>
          <p:nvPr/>
        </p:nvSpPr>
        <p:spPr>
          <a:xfrm xmlns:a="http://schemas.openxmlformats.org/drawingml/2006/main">
            <a:off x="609600" y="400050"/>
            <a:ext cx="1402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3633A6"/>
                </a:solidFill>
                <a:latin typeface="DejaVu Sans"/>
                <a:ea typeface="DejaVu Sans"/>
                <a:cs typeface="DejaVu Sans"/>
              </a:defRPr>
            </a:defPPr>
          </a:lstStyle>
          <a:p xmlns:a="http://schemas.openxmlformats.org/drawingml/2006/main">
            <a:pPr algn="l">
              <a:defRPr sz="3450" b="1">
                <a:solidFill>
                  <a:srgbClr val="3633A6"/>
                </a:solidFill>
                <a:latin typeface="DejaVu Sans"/>
                <a:ea typeface="DejaVu Sans"/>
                <a:cs typeface="DejaVu Sans"/>
              </a:defRPr>
            </a:pPr>
            <a:r>
              <a:rPr sz="3450" b="1">
                <a:solidFill>
                  <a:srgbClr val="3633A6"/>
                </a:solidFill>
                <a:latin typeface="DejaVu Sans"/>
                <a:ea typeface="DejaVu Sans"/>
                <a:cs typeface="DejaVu Sans"/>
              </a:rPr>
              <a:t>Curriculum Planner: Main Classes</a:t>
            </a:r>
          </a:p>
        </p:txBody>
      </p:sp>
      <p:sp>
        <p:nvSpPr>
          <p:cNvPr id="2" name="">
            <a:extLst xmlns:a="http://schemas.openxmlformats.org/drawingml/2006/main">
              <a:ext uri="{FF2B5EF4-FFF2-40B4-BE49-F238E27FC236}">
                <a16:creationId xmlns:a16="http://schemas.microsoft.com/office/drawing/2014/main" id="{1678C286-8175-481F-ABD3-11FF89C24A0B}"/>
              </a:ext>
            </a:extLst>
          </p:cNvPr>
          <p:cNvSpPr>
            <a:spLocks xmlns:a="http://schemas.openxmlformats.org/drawingml/2006/main" noGrp="1"/>
          </p:cNvSpPr>
          <p:nvPr/>
        </p:nvSpPr>
        <p:spPr>
          <a:xfrm xmlns:a="http://schemas.openxmlformats.org/drawingml/2006/main">
            <a:off x="609600" y="1143000"/>
            <a:ext cx="1402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536178"/>
                </a:solidFill>
                <a:latin typeface="DejaVu Sans"/>
                <a:ea typeface="DejaVu Sans"/>
                <a:cs typeface="DejaVu Sans"/>
              </a:defRPr>
            </a:defPPr>
          </a:lstStyle>
          <a:p xmlns:a="http://schemas.openxmlformats.org/drawingml/2006/main">
            <a:pPr algn="l">
              <a:defRPr sz="1875" b="0">
                <a:solidFill>
                  <a:srgbClr val="536178"/>
                </a:solidFill>
                <a:latin typeface="DejaVu Sans"/>
                <a:ea typeface="DejaVu Sans"/>
                <a:cs typeface="DejaVu Sans"/>
              </a:defRPr>
            </a:pPr>
            <a:r>
              <a:rPr sz="1875" b="0">
                <a:solidFill>
                  <a:srgbClr val="536178"/>
                </a:solidFill>
                <a:latin typeface="DejaVu Sans"/>
                <a:ea typeface="DejaVu Sans"/>
                <a:cs typeface="DejaVu Sans"/>
              </a:rPr>
              <a:t>Selected workflow: record completed courses, evaluate requirements, and propose remaining courses</a:t>
            </a:r>
          </a:p>
        </p:txBody>
      </p:sp>
      <p:sp>
        <p:nvSpPr>
          <p:cNvPr id="3" name="">
            <a:extLst xmlns:a="http://schemas.openxmlformats.org/drawingml/2006/main">
              <a:ext uri="{FF2B5EF4-FFF2-40B4-BE49-F238E27FC236}">
                <a16:creationId xmlns:a16="http://schemas.microsoft.com/office/drawing/2014/main" id="{CB3FEDEC-71BF-441C-A200-15ADD11F2B13}"/>
              </a:ext>
            </a:extLst>
          </p:cNvPr>
          <p:cNvSpPr>
            <a:spLocks xmlns:a="http://schemas.openxmlformats.org/drawingml/2006/main" noGrp="1"/>
          </p:cNvSpPr>
          <p:nvPr/>
        </p:nvSpPr>
        <p:spPr>
          <a:xfrm xmlns:a="http://schemas.openxmlformats.org/drawingml/2006/main">
            <a:off x="13906500" y="80391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500" b="0">
                <a:solidFill>
                  <a:srgbClr val="536178"/>
                </a:solidFill>
                <a:latin typeface="DejaVu Sans"/>
                <a:ea typeface="DejaVu Sans"/>
                <a:cs typeface="DejaVu Sans"/>
              </a:defRPr>
            </a:defPPr>
          </a:lstStyle>
          <a:p xmlns:a="http://schemas.openxmlformats.org/drawingml/2006/main">
            <a:pPr algn="r">
              <a:defRPr sz="1500" b="0">
                <a:solidFill>
                  <a:srgbClr val="536178"/>
                </a:solidFill>
                <a:latin typeface="DejaVu Sans"/>
                <a:ea typeface="DejaVu Sans"/>
                <a:cs typeface="DejaVu Sans"/>
              </a:defRPr>
            </a:pPr>
            <a:r>
              <a:rPr sz="1500" b="0">
                <a:solidFill>
                  <a:srgbClr val="536178"/>
                </a:solidFill>
                <a:latin typeface="DejaVu Sans"/>
                <a:ea typeface="DejaVu Sans"/>
                <a:cs typeface="DejaVu Sans"/>
              </a:rPr>
              <a:t>01</a:t>
            </a:r>
          </a:p>
        </p:txBody>
      </p:sp>
      <p:graphicFrame>
        <p:nvGraphicFramePr>
          <p:cNvPr id="4" name="">
            <a:extLst xmlns:a="http://schemas.openxmlformats.org/drawingml/2006/main">
              <a:ext uri="{FF2B5EF4-FFF2-40B4-BE49-F238E27FC236}">
                <a16:creationId xmlns:a16="http://schemas.microsoft.com/office/drawing/2014/main" id="{6B9EFF24-9234-49C8-8ECE-A3DE90F46652}"/>
              </a:ext>
            </a:extLst>
          </p:cNvPr>
          <p:cNvGraphicFramePr/>
          <p:nvPr/>
        </p:nvGraphicFramePr>
        <p:xfrm>
          <a:off xmlns:a="http://schemas.openxmlformats.org/drawingml/2006/main" x="609600" y="1943100"/>
          <a:ext xmlns:a="http://schemas.openxmlformats.org/drawingml/2006/main" cx="14020800" cy="5334000"/>
        </p:xfrm>
        <a:graphic xmlns:a="http://schemas.openxmlformats.org/drawingml/2006/main">
          <a:graphicData uri="http://schemas.openxmlformats.org/drawingml/2006/table">
            <a:tbl>
              <a:tblPr/>
              <a:tblGrid>
                <a:gridCol w="2857500"/>
                <a:gridCol w="6762750"/>
                <a:gridCol w="4400550"/>
              </a:tblGrid>
              <a:tr h="609600">
                <a:tc>
                  <a:txBody>
                    <a:bodyPr lIns="152400" tIns="152400" rIns="152400" bIns="152400"/>
                    <a:lstStyle/>
                    <a:p>
                      <a:r>
                        <a:rPr sz="1875" b="1">
                          <a:solidFill>
                            <a:srgbClr val="FFFFFF"/>
                          </a:solidFill>
                          <a:latin typeface="DejaVu Sans"/>
                          <a:ea typeface="DejaVu Sans"/>
                          <a:cs typeface="DejaVu Sans"/>
                        </a:rPr>
                        <a:t>Class / component</a:t>
                      </a:r>
                    </a:p>
                  </a:txBody>
                  <a:tcPr marL="91440" marR="91440" marT="45720" marB="45720" anchor="ctr">
                    <a:lnL w="9525">
                      <a:solidFill>
                        <a:srgbClr val="CCD2E0"/>
                      </a:solidFill>
                      <a:prstDash val="solid"/>
                    </a:lnL>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c>
                  <a:txBody>
                    <a:bodyPr lIns="152400" tIns="152400" rIns="152400" bIns="152400"/>
                    <a:lstStyle/>
                    <a:p>
                      <a:r>
                        <a:rPr sz="1875" b="1">
                          <a:solidFill>
                            <a:srgbClr val="FFFFFF"/>
                          </a:solidFill>
                          <a:latin typeface="DejaVu Sans"/>
                          <a:ea typeface="DejaVu Sans"/>
                          <a:cs typeface="DejaVu Sans"/>
                        </a:rPr>
                        <a:t>Responsibility</a:t>
                      </a:r>
                    </a:p>
                  </a:txBody>
                  <a:tcPr marL="91440" marR="91440" marT="45720" marB="45720" anchor="ctr">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c>
                  <a:txBody>
                    <a:bodyPr lIns="152400" tIns="152400" rIns="152400" bIns="152400"/>
                    <a:lstStyle/>
                    <a:p>
                      <a:r>
                        <a:rPr sz="1875" b="1">
                          <a:solidFill>
                            <a:srgbClr val="FFFFFF"/>
                          </a:solidFill>
                          <a:latin typeface="DejaVu Sans"/>
                          <a:ea typeface="DejaVu Sans"/>
                          <a:cs typeface="DejaVu Sans"/>
                        </a:rPr>
                        <a:t>Main operations</a:t>
                      </a:r>
                    </a:p>
                  </a:txBody>
                  <a:tcPr marL="91440" marR="91440" marT="45720" marB="45720" anchor="ctr">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r>
              <a:tr h="1181100">
                <a:tc>
                  <a:txBody>
                    <a:bodyPr lIns="152400" tIns="152400" rIns="152400" bIns="152400"/>
                    <a:lstStyle/>
                    <a:p>
                      <a:r>
                        <a:rPr sz="1875" b="0">
                          <a:solidFill>
                            <a:srgbClr val="18243B"/>
                          </a:solidFill>
                          <a:latin typeface="DejaVu Sans"/>
                          <a:ea typeface="DejaVu Sans"/>
                          <a:cs typeface="DejaVu Sans"/>
                        </a:rPr>
                        <a:t>Course</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Stores course identity and prerequisite references.</a:t>
                      </a:r>
                    </a:p>
                  </a:txBody>
                  <a:tcPr marL="91440" marR="91440" marT="45720" marB="45720" anchor="ctr">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prerequisitesMet()</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1181100">
                <a:tc>
                  <a:txBody>
                    <a:bodyPr lIns="152400" tIns="152400" rIns="152400" bIns="152400"/>
                    <a:lstStyle/>
                    <a:p>
                      <a:r>
                        <a:rPr sz="1875" b="0">
                          <a:solidFill>
                            <a:srgbClr val="18243B"/>
                          </a:solidFill>
                          <a:latin typeface="DejaVu Sans"/>
                          <a:ea typeface="DejaVu Sans"/>
                          <a:cs typeface="DejaVu Sans"/>
                        </a:rPr>
                        <a:t>Student</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Records completed courses and non-course achievements.</a:t>
                      </a:r>
                    </a:p>
                  </a:txBody>
                  <a:tcPr marL="91440" marR="91440" marT="45720" marB="45720" anchor="ctr">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completeCourse()</a:t>
                      </a:r>
                    </a:p>
                    <a:p>
                      <a:r>
                        <a:rPr sz="1875" b="0">
                          <a:solidFill>
                            <a:srgbClr val="18243B"/>
                          </a:solidFill>
                          <a:latin typeface="DejaVu Sans"/>
                          <a:ea typeface="DejaVu Sans"/>
                          <a:cs typeface="DejaVu Sans"/>
                        </a:rPr>
                        <a:t>completeExtra()</a:t>
                      </a:r>
                    </a:p>
                    <a:p>
                      <a:r>
                        <a:rPr sz="1875" b="0">
                          <a:solidFill>
                            <a:srgbClr val="18243B"/>
                          </a:solidFill>
                          <a:latin typeface="DejaVu Sans"/>
                          <a:ea typeface="DejaVu Sans"/>
                          <a:cs typeface="DejaVu Sans"/>
                        </a:rPr>
                        <a:t>hasCompleted()</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r h="1181100">
                <a:tc>
                  <a:txBody>
                    <a:bodyPr lIns="152400" tIns="152400" rIns="152400" bIns="152400"/>
                    <a:lstStyle/>
                    <a:p>
                      <a:r>
                        <a:rPr sz="1875" b="0">
                          <a:solidFill>
                            <a:srgbClr val="18243B"/>
                          </a:solidFill>
                          <a:latin typeface="DejaVu Sans"/>
                          <a:ea typeface="DejaVu Sans"/>
                          <a:cs typeface="DejaVu Sans"/>
                        </a:rPr>
                        <a:t>Requirement</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Evaluates one course or non-course completion rule.</a:t>
                      </a:r>
                    </a:p>
                  </a:txBody>
                  <a:tcPr marL="91440" marR="91440" marT="45720" marB="45720" anchor="ctr">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isSatisfiedBy()</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1181100">
                <a:tc>
                  <a:txBody>
                    <a:bodyPr lIns="152400" tIns="152400" rIns="152400" bIns="152400"/>
                    <a:lstStyle/>
                    <a:p>
                      <a:r>
                        <a:rPr sz="1875" b="0">
                          <a:solidFill>
                            <a:srgbClr val="18243B"/>
                          </a:solidFill>
                          <a:latin typeface="DejaVu Sans"/>
                          <a:ea typeface="DejaVu Sans"/>
                          <a:cs typeface="DejaVu Sans"/>
                        </a:rPr>
                        <a:t>Curriculum</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Owns its requirement rules and coordinates checks and planning.</a:t>
                      </a:r>
                    </a:p>
                  </a:txBody>
                  <a:tcPr marL="91440" marR="91440" marT="45720" marB="45720" anchor="ctr">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makeReqTree()</a:t>
                      </a:r>
                    </a:p>
                    <a:p>
                      <a:r>
                        <a:rPr sz="1875" b="0">
                          <a:solidFill>
                            <a:srgbClr val="18243B"/>
                          </a:solidFill>
                          <a:latin typeface="DejaVu Sans"/>
                          <a:ea typeface="DejaVu Sans"/>
                          <a:cs typeface="DejaVu Sans"/>
                        </a:rPr>
                        <a:t>checkStudent()</a:t>
                      </a:r>
                    </a:p>
                    <a:p>
                      <a:r>
                        <a:rPr sz="1875" b="0">
                          <a:solidFill>
                            <a:srgbClr val="18243B"/>
                          </a:solidFill>
                          <a:latin typeface="DejaVu Sans"/>
                          <a:ea typeface="DejaVu Sans"/>
                          <a:cs typeface="DejaVu Sans"/>
                        </a:rPr>
                        <a:t>makePlan()</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bl>
          </a:graphicData>
        </a:graphic>
      </p:graphicFrame>
      <p:sp>
        <p:nvSpPr>
          <p:cNvPr id="5" name="">
            <a:extLst xmlns:a="http://schemas.openxmlformats.org/drawingml/2006/main">
              <a:ext uri="{FF2B5EF4-FFF2-40B4-BE49-F238E27FC236}">
                <a16:creationId xmlns:a16="http://schemas.microsoft.com/office/drawing/2014/main" id="{B10C2076-7F23-4059-8834-DEB8BB89CE4B}"/>
              </a:ext>
            </a:extLst>
          </p:cNvPr>
          <p:cNvSpPr>
            <a:spLocks xmlns:a="http://schemas.openxmlformats.org/drawingml/2006/main" noGrp="1"/>
          </p:cNvSpPr>
          <p:nvPr/>
        </p:nvSpPr>
        <p:spPr>
          <a:xfrm xmlns:a="http://schemas.openxmlformats.org/drawingml/2006/main">
            <a:off x="609600" y="7524750"/>
            <a:ext cx="1352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36178"/>
                </a:solidFill>
                <a:latin typeface="DejaVu Sans"/>
                <a:ea typeface="DejaVu Sans"/>
                <a:cs typeface="DejaVu Sans"/>
              </a:defRPr>
            </a:defPPr>
          </a:lstStyle>
          <a:p xmlns:a="http://schemas.openxmlformats.org/drawingml/2006/main">
            <a:pPr algn="l">
              <a:defRPr sz="1725" b="0">
                <a:solidFill>
                  <a:srgbClr val="536178"/>
                </a:solidFill>
                <a:latin typeface="DejaVu Sans"/>
                <a:ea typeface="DejaVu Sans"/>
                <a:cs typeface="DejaVu Sans"/>
              </a:defRPr>
            </a:pPr>
            <a:r>
              <a:rPr sz="1725" b="0">
                <a:solidFill>
                  <a:srgbClr val="536178"/>
                </a:solidFill>
                <a:latin typeface="DejaVu Sans"/>
                <a:ea typeface="DejaVu Sans"/>
                <a:cs typeface="DejaVu Sans"/>
              </a:rPr>
              <a:t>Subject is an enumeration used by Course. It has no business operations.</a:t>
            </a:r>
          </a:p>
        </p:txBody>
      </p:sp>
    </p:spTree>
    <p:extLst>
      <p:ext uri="{BB962C8B-B14F-4D97-AF65-F5344CB8AC3E}">
        <p14:creationId xmlns:p14="http://schemas.microsoft.com/office/powerpoint/2010/main" val="7450163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8" name="">
            <a:extLst xmlns:a="http://schemas.openxmlformats.org/drawingml/2006/main">
              <a:ext uri="{FF2B5EF4-FFF2-40B4-BE49-F238E27FC236}">
                <a16:creationId xmlns:a16="http://schemas.microsoft.com/office/drawing/2014/main" id="{24290DBA-7E7C-4E44-B7C9-6C6B688458C2}"/>
              </a:ext>
            </a:extLst>
          </p:cNvPr>
          <p:cNvCxnSpPr>
            <a:stCxn xmlns:a="http://schemas.openxmlformats.org/drawingml/2006/main" id="22" idx="1"/>
            <a:endCxn xmlns:a="http://schemas.openxmlformats.org/drawingml/2006/main" id="16" idx="3"/>
          </p:cNvCxnSpPr>
          <p:nvPr/>
        </p:nvCxnSpPr>
        <p:spPr>
          <a:xfrm xmlns:a="http://schemas.openxmlformats.org/drawingml/2006/main" flipH="1">
            <a:off x="6381750" y="6505575"/>
            <a:ext cx="2190750" cy="0"/>
          </a:xfrm>
          <a:prstGeom xmlns:a="http://schemas.openxmlformats.org/drawingml/2006/main" prst="straightConnector1">
            <a:avLst/>
          </a:prstGeom>
          <a:ln xmlns:a="http://schemas.openxmlformats.org/drawingml/2006/main" w="19050">
            <a:solidFill>
              <a:srgbClr val="18243B"/>
            </a:solidFill>
            <a:prstDash val="solid"/>
          </a:ln>
        </p:spPr>
      </p:cxnSp>
      <p:cxnSp>
        <p:nvCxnSpPr>
          <p:cNvPr id="34" name="">
            <a:extLst xmlns:a="http://schemas.openxmlformats.org/drawingml/2006/main">
              <a:ext uri="{FF2B5EF4-FFF2-40B4-BE49-F238E27FC236}">
                <a16:creationId xmlns:a16="http://schemas.microsoft.com/office/drawing/2014/main" id="{4D044197-56FC-4B27-8E1E-83017295879D}"/>
              </a:ext>
            </a:extLst>
          </p:cNvPr>
          <p:cNvCxnSpPr>
            <a:stCxn xmlns:a="http://schemas.openxmlformats.org/drawingml/2006/main" id="10" idx="2"/>
            <a:endCxn xmlns:a="http://schemas.openxmlformats.org/drawingml/2006/main" id="22" idx="0"/>
          </p:cNvCxnSpPr>
          <p:nvPr/>
        </p:nvCxnSpPr>
        <p:spPr>
          <a:xfrm xmlns:a="http://schemas.openxmlformats.org/drawingml/2006/main">
            <a:off x="11430000" y="4362450"/>
            <a:ext cx="0" cy="952500"/>
          </a:xfrm>
          <a:prstGeom xmlns:a="http://schemas.openxmlformats.org/drawingml/2006/main" prst="straightConnector1">
            <a:avLst/>
          </a:prstGeom>
          <a:ln xmlns:a="http://schemas.openxmlformats.org/drawingml/2006/main" w="19050">
            <a:solidFill>
              <a:srgbClr val="18243B"/>
            </a:solidFill>
            <a:prstDash val="solid"/>
            <a:headEnd type="diamond" w="lg" len="lg"/>
          </a:ln>
        </p:spPr>
      </p:cxnSp>
      <p:cxnSp>
        <p:nvCxnSpPr>
          <p:cNvPr id="30" name="">
            <a:extLst xmlns:a="http://schemas.openxmlformats.org/drawingml/2006/main">
              <a:ext uri="{FF2B5EF4-FFF2-40B4-BE49-F238E27FC236}">
                <a16:creationId xmlns:a16="http://schemas.microsoft.com/office/drawing/2014/main" id="{7213BA39-9244-450F-BA1D-A8002AD52842}"/>
              </a:ext>
            </a:extLst>
          </p:cNvPr>
          <p:cNvCxnSpPr>
            <a:stCxn xmlns:a="http://schemas.openxmlformats.org/drawingml/2006/main" id="4" idx="2"/>
            <a:endCxn xmlns:a="http://schemas.openxmlformats.org/drawingml/2006/main" id="16" idx="0"/>
          </p:cNvCxnSpPr>
          <p:nvPr/>
        </p:nvCxnSpPr>
        <p:spPr>
          <a:xfrm xmlns:a="http://schemas.openxmlformats.org/drawingml/2006/main">
            <a:off x="3667125" y="4362450"/>
            <a:ext cx="0" cy="952500"/>
          </a:xfrm>
          <a:prstGeom xmlns:a="http://schemas.openxmlformats.org/drawingml/2006/main" prst="straightConnector1">
            <a:avLst/>
          </a:prstGeom>
          <a:ln xmlns:a="http://schemas.openxmlformats.org/drawingml/2006/main" w="19050">
            <a:solidFill>
              <a:srgbClr val="18243B"/>
            </a:solidFill>
            <a:prstDash val="solid"/>
          </a:ln>
        </p:spPr>
      </p:cxnSp>
      <p:cxnSp>
        <p:nvCxnSpPr>
          <p:cNvPr id="28" name="">
            <a:extLst xmlns:a="http://schemas.openxmlformats.org/drawingml/2006/main">
              <a:ext uri="{FF2B5EF4-FFF2-40B4-BE49-F238E27FC236}">
                <a16:creationId xmlns:a16="http://schemas.microsoft.com/office/drawing/2014/main" id="{0E97C55A-9FA8-43CF-98CE-5ABB81072FE8}"/>
              </a:ext>
            </a:extLst>
          </p:cNvPr>
          <p:cNvCxnSpPr>
            <a:stCxn xmlns:a="http://schemas.openxmlformats.org/drawingml/2006/main" id="10" idx="1"/>
            <a:endCxn xmlns:a="http://schemas.openxmlformats.org/drawingml/2006/main" id="4" idx="3"/>
          </p:cNvCxnSpPr>
          <p:nvPr/>
        </p:nvCxnSpPr>
        <p:spPr>
          <a:xfrm xmlns:a="http://schemas.openxmlformats.org/drawingml/2006/main" flipH="1">
            <a:off x="6381750" y="3171825"/>
            <a:ext cx="2190750" cy="0"/>
          </a:xfrm>
          <a:prstGeom xmlns:a="http://schemas.openxmlformats.org/drawingml/2006/main" prst="straightConnector1">
            <a:avLst/>
          </a:prstGeom>
          <a:ln xmlns:a="http://schemas.openxmlformats.org/drawingml/2006/main" w="19050">
            <a:solidFill>
              <a:srgbClr val="18243B"/>
            </a:solidFill>
            <a:prstDash val="dash"/>
            <a:tailEnd type="arrow" w="med" len="med"/>
          </a:ln>
        </p:spPr>
      </p:cxnSp>
      <p:sp>
        <p:nvSpPr>
          <p:cNvPr id="42" name="">
            <a:extLst xmlns:a="http://schemas.openxmlformats.org/drawingml/2006/main">
              <a:ext uri="{FF2B5EF4-FFF2-40B4-BE49-F238E27FC236}">
                <a16:creationId xmlns:a16="http://schemas.microsoft.com/office/drawing/2014/main" id="{DD338A8C-3CFF-4C17-B10A-4CA2D6CBC745}"/>
              </a:ext>
            </a:extLst>
          </p:cNvPr>
          <p:cNvSpPr>
            <a:spLocks xmlns:a="http://schemas.openxmlformats.org/drawingml/2006/main" noGrp="1"/>
          </p:cNvSpPr>
          <p:nvPr/>
        </p:nvSpPr>
        <p:spPr>
          <a:xfrm xmlns:a="http://schemas.openxmlformats.org/drawingml/2006/main">
            <a:off x="609600" y="400050"/>
            <a:ext cx="1402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3633A6"/>
                </a:solidFill>
                <a:latin typeface="DejaVu Sans"/>
                <a:ea typeface="DejaVu Sans"/>
                <a:cs typeface="DejaVu Sans"/>
              </a:defRPr>
            </a:defPPr>
          </a:lstStyle>
          <a:p xmlns:a="http://schemas.openxmlformats.org/drawingml/2006/main">
            <a:pPr algn="l">
              <a:defRPr sz="3450" b="1">
                <a:solidFill>
                  <a:srgbClr val="3633A6"/>
                </a:solidFill>
                <a:latin typeface="DejaVu Sans"/>
                <a:ea typeface="DejaVu Sans"/>
                <a:cs typeface="DejaVu Sans"/>
              </a:defRPr>
            </a:pPr>
            <a:r>
              <a:rPr sz="3450" b="1">
                <a:solidFill>
                  <a:srgbClr val="3633A6"/>
                </a:solidFill>
                <a:latin typeface="DejaVu Sans"/>
                <a:ea typeface="DejaVu Sans"/>
                <a:cs typeface="DejaVu Sans"/>
              </a:rPr>
              <a:t>UML Class Diagram</a:t>
            </a:r>
          </a:p>
        </p:txBody>
      </p:sp>
      <p:sp>
        <p:nvSpPr>
          <p:cNvPr id="2" name="">
            <a:extLst xmlns:a="http://schemas.openxmlformats.org/drawingml/2006/main">
              <a:ext uri="{FF2B5EF4-FFF2-40B4-BE49-F238E27FC236}">
                <a16:creationId xmlns:a16="http://schemas.microsoft.com/office/drawing/2014/main" id="{DBC6E14C-BA27-4E4F-AFB1-697AF2E03703}"/>
              </a:ext>
            </a:extLst>
          </p:cNvPr>
          <p:cNvSpPr>
            <a:spLocks xmlns:a="http://schemas.openxmlformats.org/drawingml/2006/main" noGrp="1"/>
          </p:cNvSpPr>
          <p:nvPr/>
        </p:nvSpPr>
        <p:spPr>
          <a:xfrm xmlns:a="http://schemas.openxmlformats.org/drawingml/2006/main">
            <a:off x="609600" y="1143000"/>
            <a:ext cx="1402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536178"/>
                </a:solidFill>
                <a:latin typeface="DejaVu Sans"/>
                <a:ea typeface="DejaVu Sans"/>
                <a:cs typeface="DejaVu Sans"/>
              </a:defRPr>
            </a:defPPr>
          </a:lstStyle>
          <a:p xmlns:a="http://schemas.openxmlformats.org/drawingml/2006/main">
            <a:pPr algn="l">
              <a:defRPr sz="1875" b="0">
                <a:solidFill>
                  <a:srgbClr val="536178"/>
                </a:solidFill>
                <a:latin typeface="DejaVu Sans"/>
                <a:ea typeface="DejaVu Sans"/>
                <a:cs typeface="DejaVu Sans"/>
              </a:defRPr>
            </a:pPr>
            <a:r>
              <a:rPr sz="1875" b="0">
                <a:solidFill>
                  <a:srgbClr val="536178"/>
                </a:solidFill>
                <a:latin typeface="DejaVu Sans"/>
                <a:ea typeface="DejaVu Sans"/>
                <a:cs typeface="DejaVu Sans"/>
              </a:rPr>
              <a:t>Key attributes and operations. + public / − private. Collection types describe the proposed data model.</a:t>
            </a:r>
          </a:p>
        </p:txBody>
      </p:sp>
      <p:sp>
        <p:nvSpPr>
          <p:cNvPr id="3" name="">
            <a:extLst xmlns:a="http://schemas.openxmlformats.org/drawingml/2006/main">
              <a:ext uri="{FF2B5EF4-FFF2-40B4-BE49-F238E27FC236}">
                <a16:creationId xmlns:a16="http://schemas.microsoft.com/office/drawing/2014/main" id="{D4464CFA-48AF-4AB8-8235-187343441687}"/>
              </a:ext>
            </a:extLst>
          </p:cNvPr>
          <p:cNvSpPr>
            <a:spLocks xmlns:a="http://schemas.openxmlformats.org/drawingml/2006/main" noGrp="1"/>
          </p:cNvSpPr>
          <p:nvPr/>
        </p:nvSpPr>
        <p:spPr>
          <a:xfrm xmlns:a="http://schemas.openxmlformats.org/drawingml/2006/main">
            <a:off x="13906500" y="80391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500" b="0">
                <a:solidFill>
                  <a:srgbClr val="536178"/>
                </a:solidFill>
                <a:latin typeface="DejaVu Sans"/>
                <a:ea typeface="DejaVu Sans"/>
                <a:cs typeface="DejaVu Sans"/>
              </a:defRPr>
            </a:defPPr>
          </a:lstStyle>
          <a:p xmlns:a="http://schemas.openxmlformats.org/drawingml/2006/main">
            <a:pPr algn="r">
              <a:defRPr sz="1500" b="0">
                <a:solidFill>
                  <a:srgbClr val="536178"/>
                </a:solidFill>
                <a:latin typeface="DejaVu Sans"/>
                <a:ea typeface="DejaVu Sans"/>
                <a:cs typeface="DejaVu Sans"/>
              </a:defRPr>
            </a:pPr>
            <a:r>
              <a:rPr sz="1500" b="0">
                <a:solidFill>
                  <a:srgbClr val="536178"/>
                </a:solidFill>
                <a:latin typeface="DejaVu Sans"/>
                <a:ea typeface="DejaVu Sans"/>
                <a:cs typeface="DejaVu Sans"/>
              </a:rPr>
              <a:t>02</a:t>
            </a:r>
          </a:p>
        </p:txBody>
      </p:sp>
      <p:sp>
        <p:nvSpPr>
          <p:cNvPr id="4" name="">
            <a:extLst xmlns:a="http://schemas.openxmlformats.org/drawingml/2006/main">
              <a:ext uri="{FF2B5EF4-FFF2-40B4-BE49-F238E27FC236}">
                <a16:creationId xmlns:a16="http://schemas.microsoft.com/office/drawing/2014/main" id="{04697A13-7151-4EAB-9308-A43C3DFCB6DC}"/>
              </a:ext>
            </a:extLst>
          </p:cNvPr>
          <p:cNvSpPr>
            <a:spLocks xmlns:a="http://schemas.openxmlformats.org/drawingml/2006/main" noGrp="1"/>
          </p:cNvSpPr>
          <p:nvPr/>
        </p:nvSpPr>
        <p:spPr>
          <a:xfrm xmlns:a="http://schemas.openxmlformats.org/drawingml/2006/main">
            <a:off x="952500" y="1981200"/>
            <a:ext cx="5429250"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18243B"/>
            </a:solidFill>
            <a:prstDash val="solid"/>
          </a:ln>
        </p:spPr>
      </p:sp>
      <p:sp>
        <p:nvSpPr>
          <p:cNvPr id="5" name="">
            <a:extLst xmlns:a="http://schemas.openxmlformats.org/drawingml/2006/main">
              <a:ext uri="{FF2B5EF4-FFF2-40B4-BE49-F238E27FC236}">
                <a16:creationId xmlns:a16="http://schemas.microsoft.com/office/drawing/2014/main" id="{12EC9477-DFE0-4BCA-85F1-470AAB4C7CF0}"/>
              </a:ext>
            </a:extLst>
          </p:cNvPr>
          <p:cNvSpPr>
            <a:spLocks xmlns:a="http://schemas.openxmlformats.org/drawingml/2006/main" noGrp="1"/>
          </p:cNvSpPr>
          <p:nvPr/>
        </p:nvSpPr>
        <p:spPr>
          <a:xfrm xmlns:a="http://schemas.openxmlformats.org/drawingml/2006/main">
            <a:off x="1066800" y="2028825"/>
            <a:ext cx="5200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025" b="1">
                <a:solidFill>
                  <a:srgbClr val="3633A6"/>
                </a:solidFill>
                <a:latin typeface="DejaVu Sans"/>
                <a:ea typeface="DejaVu Sans"/>
                <a:cs typeface="DejaVu Sans"/>
              </a:defRPr>
            </a:defPPr>
          </a:lstStyle>
          <a:p xmlns:a="http://schemas.openxmlformats.org/drawingml/2006/main">
            <a:pPr algn="ctr">
              <a:defRPr sz="2025" b="1">
                <a:solidFill>
                  <a:srgbClr val="3633A6"/>
                </a:solidFill>
                <a:latin typeface="DejaVu Sans"/>
                <a:ea typeface="DejaVu Sans"/>
                <a:cs typeface="DejaVu Sans"/>
              </a:defRPr>
            </a:pPr>
            <a:r>
              <a:rPr sz="2025" b="1">
                <a:solidFill>
                  <a:srgbClr val="3633A6"/>
                </a:solidFill>
                <a:latin typeface="DejaVu Sans"/>
                <a:ea typeface="DejaVu Sans"/>
                <a:cs typeface="DejaVu Sans"/>
              </a:rPr>
              <a:t>Student</a:t>
            </a:r>
          </a:p>
        </p:txBody>
      </p:sp>
      <p:cxnSp>
        <p:nvCxnSpPr>
          <p:cNvPr id="6" name="">
            <a:extLst xmlns:a="http://schemas.openxmlformats.org/drawingml/2006/main">
              <a:ext uri="{FF2B5EF4-FFF2-40B4-BE49-F238E27FC236}">
                <a16:creationId xmlns:a16="http://schemas.microsoft.com/office/drawing/2014/main" id="{95C9FC1D-AE31-4651-8E93-BFFF5D861BBF}"/>
              </a:ext>
            </a:extLst>
          </p:cNvPr>
          <p:cNvCxnSpPr/>
          <p:nvPr/>
        </p:nvCxnSpPr>
        <p:spPr>
          <a:xfrm xmlns:a="http://schemas.openxmlformats.org/drawingml/2006/main">
            <a:off x="952500" y="2419350"/>
            <a:ext cx="5429250" cy="0"/>
          </a:xfrm>
          <a:prstGeom xmlns:a="http://schemas.openxmlformats.org/drawingml/2006/main" prst="straightConnector1">
            <a:avLst/>
          </a:prstGeom>
          <a:ln xmlns:a="http://schemas.openxmlformats.org/drawingml/2006/main" w="9525">
            <a:solidFill>
              <a:srgbClr val="18243B"/>
            </a:solidFill>
            <a:prstDash val="solid"/>
          </a:ln>
        </p:spPr>
      </p:cxnSp>
      <p:sp>
        <p:nvSpPr>
          <p:cNvPr id="7" name="">
            <a:extLst xmlns:a="http://schemas.openxmlformats.org/drawingml/2006/main">
              <a:ext uri="{FF2B5EF4-FFF2-40B4-BE49-F238E27FC236}">
                <a16:creationId xmlns:a16="http://schemas.microsoft.com/office/drawing/2014/main" id="{D0FC3587-9078-4B72-B613-CD0E15549709}"/>
              </a:ext>
            </a:extLst>
          </p:cNvPr>
          <p:cNvSpPr>
            <a:spLocks xmlns:a="http://schemas.openxmlformats.org/drawingml/2006/main" noGrp="1"/>
          </p:cNvSpPr>
          <p:nvPr/>
        </p:nvSpPr>
        <p:spPr>
          <a:xfrm xmlns:a="http://schemas.openxmlformats.org/drawingml/2006/main">
            <a:off x="1104900" y="2495550"/>
            <a:ext cx="51244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completedCourses: Set&lt;Course&gt;</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extraCompletions: Set&lt;String&gt;</a:t>
            </a:r>
          </a:p>
        </p:txBody>
      </p:sp>
      <p:cxnSp>
        <p:nvCxnSpPr>
          <p:cNvPr id="8" name="">
            <a:extLst xmlns:a="http://schemas.openxmlformats.org/drawingml/2006/main">
              <a:ext uri="{FF2B5EF4-FFF2-40B4-BE49-F238E27FC236}">
                <a16:creationId xmlns:a16="http://schemas.microsoft.com/office/drawing/2014/main" id="{629482B5-3E2D-4D8E-A3B2-71C8FE11446E}"/>
              </a:ext>
            </a:extLst>
          </p:cNvPr>
          <p:cNvCxnSpPr/>
          <p:nvPr/>
        </p:nvCxnSpPr>
        <p:spPr>
          <a:xfrm xmlns:a="http://schemas.openxmlformats.org/drawingml/2006/main">
            <a:off x="952500" y="3200400"/>
            <a:ext cx="5429250" cy="0"/>
          </a:xfrm>
          <a:prstGeom xmlns:a="http://schemas.openxmlformats.org/drawingml/2006/main" prst="straightConnector1">
            <a:avLst/>
          </a:prstGeom>
          <a:ln xmlns:a="http://schemas.openxmlformats.org/drawingml/2006/main" w="9525">
            <a:solidFill>
              <a:srgbClr val="18243B"/>
            </a:solidFill>
            <a:prstDash val="solid"/>
          </a:ln>
        </p:spPr>
      </p:cxnSp>
      <p:sp>
        <p:nvSpPr>
          <p:cNvPr id="9" name="">
            <a:extLst xmlns:a="http://schemas.openxmlformats.org/drawingml/2006/main">
              <a:ext uri="{FF2B5EF4-FFF2-40B4-BE49-F238E27FC236}">
                <a16:creationId xmlns:a16="http://schemas.microsoft.com/office/drawing/2014/main" id="{6C356FFB-47DC-4EB1-96E2-B5D6EE004297}"/>
              </a:ext>
            </a:extLst>
          </p:cNvPr>
          <p:cNvSpPr>
            <a:spLocks xmlns:a="http://schemas.openxmlformats.org/drawingml/2006/main" noGrp="1"/>
          </p:cNvSpPr>
          <p:nvPr/>
        </p:nvSpPr>
        <p:spPr>
          <a:xfrm xmlns:a="http://schemas.openxmlformats.org/drawingml/2006/main">
            <a:off x="1104900" y="3286125"/>
            <a:ext cx="51244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completeCourse(course: Course): void</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completeExtra(key: String): void</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hasCompleted(course: Course): bool</a:t>
            </a:r>
          </a:p>
        </p:txBody>
      </p:sp>
      <p:sp>
        <p:nvSpPr>
          <p:cNvPr id="10" name="">
            <a:extLst xmlns:a="http://schemas.openxmlformats.org/drawingml/2006/main">
              <a:ext uri="{FF2B5EF4-FFF2-40B4-BE49-F238E27FC236}">
                <a16:creationId xmlns:a16="http://schemas.microsoft.com/office/drawing/2014/main" id="{067994C2-1717-43C4-B6A1-F39B48C980A9}"/>
              </a:ext>
            </a:extLst>
          </p:cNvPr>
          <p:cNvSpPr>
            <a:spLocks xmlns:a="http://schemas.openxmlformats.org/drawingml/2006/main" noGrp="1"/>
          </p:cNvSpPr>
          <p:nvPr/>
        </p:nvSpPr>
        <p:spPr>
          <a:xfrm xmlns:a="http://schemas.openxmlformats.org/drawingml/2006/main">
            <a:off x="8572500" y="1981200"/>
            <a:ext cx="5715000"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18243B"/>
            </a:solidFill>
            <a:prstDash val="solid"/>
          </a:ln>
        </p:spPr>
      </p:sp>
      <p:sp>
        <p:nvSpPr>
          <p:cNvPr id="11" name="">
            <a:extLst xmlns:a="http://schemas.openxmlformats.org/drawingml/2006/main">
              <a:ext uri="{FF2B5EF4-FFF2-40B4-BE49-F238E27FC236}">
                <a16:creationId xmlns:a16="http://schemas.microsoft.com/office/drawing/2014/main" id="{5C1D6552-5989-4E5F-A9DB-F7D78334C2E7}"/>
              </a:ext>
            </a:extLst>
          </p:cNvPr>
          <p:cNvSpPr>
            <a:spLocks xmlns:a="http://schemas.openxmlformats.org/drawingml/2006/main" noGrp="1"/>
          </p:cNvSpPr>
          <p:nvPr/>
        </p:nvSpPr>
        <p:spPr>
          <a:xfrm xmlns:a="http://schemas.openxmlformats.org/drawingml/2006/main">
            <a:off x="8686800" y="2028825"/>
            <a:ext cx="5486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025" b="1">
                <a:solidFill>
                  <a:srgbClr val="3633A6"/>
                </a:solidFill>
                <a:latin typeface="DejaVu Sans"/>
                <a:ea typeface="DejaVu Sans"/>
                <a:cs typeface="DejaVu Sans"/>
              </a:defRPr>
            </a:defPPr>
          </a:lstStyle>
          <a:p xmlns:a="http://schemas.openxmlformats.org/drawingml/2006/main">
            <a:pPr algn="ctr">
              <a:defRPr sz="2025" b="1">
                <a:solidFill>
                  <a:srgbClr val="3633A6"/>
                </a:solidFill>
                <a:latin typeface="DejaVu Sans"/>
                <a:ea typeface="DejaVu Sans"/>
                <a:cs typeface="DejaVu Sans"/>
              </a:defRPr>
            </a:pPr>
            <a:r>
              <a:rPr sz="2025" b="1">
                <a:solidFill>
                  <a:srgbClr val="3633A6"/>
                </a:solidFill>
                <a:latin typeface="DejaVu Sans"/>
                <a:ea typeface="DejaVu Sans"/>
                <a:cs typeface="DejaVu Sans"/>
              </a:rPr>
              <a:t>Curriculum</a:t>
            </a:r>
          </a:p>
        </p:txBody>
      </p:sp>
      <p:cxnSp>
        <p:nvCxnSpPr>
          <p:cNvPr id="12" name="">
            <a:extLst xmlns:a="http://schemas.openxmlformats.org/drawingml/2006/main">
              <a:ext uri="{FF2B5EF4-FFF2-40B4-BE49-F238E27FC236}">
                <a16:creationId xmlns:a16="http://schemas.microsoft.com/office/drawing/2014/main" id="{5472C6DF-84DF-49F8-9DA3-3942FE8ABC7B}"/>
              </a:ext>
            </a:extLst>
          </p:cNvPr>
          <p:cNvCxnSpPr/>
          <p:nvPr/>
        </p:nvCxnSpPr>
        <p:spPr>
          <a:xfrm xmlns:a="http://schemas.openxmlformats.org/drawingml/2006/main">
            <a:off x="8572500" y="2419350"/>
            <a:ext cx="5715000" cy="0"/>
          </a:xfrm>
          <a:prstGeom xmlns:a="http://schemas.openxmlformats.org/drawingml/2006/main" prst="straightConnector1">
            <a:avLst/>
          </a:prstGeom>
          <a:ln xmlns:a="http://schemas.openxmlformats.org/drawingml/2006/main" w="9525">
            <a:solidFill>
              <a:srgbClr val="18243B"/>
            </a:solidFill>
            <a:prstDash val="solid"/>
          </a:ln>
        </p:spPr>
      </p:cxnSp>
      <p:sp>
        <p:nvSpPr>
          <p:cNvPr id="13" name="">
            <a:extLst xmlns:a="http://schemas.openxmlformats.org/drawingml/2006/main">
              <a:ext uri="{FF2B5EF4-FFF2-40B4-BE49-F238E27FC236}">
                <a16:creationId xmlns:a16="http://schemas.microsoft.com/office/drawing/2014/main" id="{DE0309E3-F362-4A87-9A19-DA6E945E6DA6}"/>
              </a:ext>
            </a:extLst>
          </p:cNvPr>
          <p:cNvSpPr>
            <a:spLocks xmlns:a="http://schemas.openxmlformats.org/drawingml/2006/main" noGrp="1"/>
          </p:cNvSpPr>
          <p:nvPr/>
        </p:nvSpPr>
        <p:spPr>
          <a:xfrm xmlns:a="http://schemas.openxmlformats.org/drawingml/2006/main">
            <a:off x="8724900" y="2495550"/>
            <a:ext cx="541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requirements: List&lt;Requirement&gt;</a:t>
            </a:r>
          </a:p>
        </p:txBody>
      </p:sp>
      <p:cxnSp>
        <p:nvCxnSpPr>
          <p:cNvPr id="14" name="">
            <a:extLst xmlns:a="http://schemas.openxmlformats.org/drawingml/2006/main">
              <a:ext uri="{FF2B5EF4-FFF2-40B4-BE49-F238E27FC236}">
                <a16:creationId xmlns:a16="http://schemas.microsoft.com/office/drawing/2014/main" id="{1FE53C30-0AF5-43F5-94C9-8C3D8128C2C0}"/>
              </a:ext>
            </a:extLst>
          </p:cNvPr>
          <p:cNvCxnSpPr/>
          <p:nvPr/>
        </p:nvCxnSpPr>
        <p:spPr>
          <a:xfrm xmlns:a="http://schemas.openxmlformats.org/drawingml/2006/main">
            <a:off x="8572500" y="2905125"/>
            <a:ext cx="5715000" cy="0"/>
          </a:xfrm>
          <a:prstGeom xmlns:a="http://schemas.openxmlformats.org/drawingml/2006/main" prst="straightConnector1">
            <a:avLst/>
          </a:prstGeom>
          <a:ln xmlns:a="http://schemas.openxmlformats.org/drawingml/2006/main" w="9525">
            <a:solidFill>
              <a:srgbClr val="18243B"/>
            </a:solidFill>
            <a:prstDash val="solid"/>
          </a:ln>
        </p:spPr>
      </p:cxnSp>
      <p:sp>
        <p:nvSpPr>
          <p:cNvPr id="15" name="">
            <a:extLst xmlns:a="http://schemas.openxmlformats.org/drawingml/2006/main">
              <a:ext uri="{FF2B5EF4-FFF2-40B4-BE49-F238E27FC236}">
                <a16:creationId xmlns:a16="http://schemas.microsoft.com/office/drawing/2014/main" id="{B44B5569-D12E-4DA0-AEC9-2EC98EF26F37}"/>
              </a:ext>
            </a:extLst>
          </p:cNvPr>
          <p:cNvSpPr>
            <a:spLocks xmlns:a="http://schemas.openxmlformats.org/drawingml/2006/main" noGrp="1"/>
          </p:cNvSpPr>
          <p:nvPr/>
        </p:nvSpPr>
        <p:spPr>
          <a:xfrm xmlns:a="http://schemas.openxmlformats.org/drawingml/2006/main">
            <a:off x="8724900" y="2990850"/>
            <a:ext cx="541020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makeReqTree(): void</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checkStudent(s: Student): bool</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makePlan(s: Student): List&lt;Course&gt;</a:t>
            </a:r>
          </a:p>
        </p:txBody>
      </p:sp>
      <p:sp>
        <p:nvSpPr>
          <p:cNvPr id="16" name="">
            <a:extLst xmlns:a="http://schemas.openxmlformats.org/drawingml/2006/main">
              <a:ext uri="{FF2B5EF4-FFF2-40B4-BE49-F238E27FC236}">
                <a16:creationId xmlns:a16="http://schemas.microsoft.com/office/drawing/2014/main" id="{AB25CE0C-4196-4D06-A509-00BE48D9DD07}"/>
              </a:ext>
            </a:extLst>
          </p:cNvPr>
          <p:cNvSpPr>
            <a:spLocks xmlns:a="http://schemas.openxmlformats.org/drawingml/2006/main" noGrp="1"/>
          </p:cNvSpPr>
          <p:nvPr/>
        </p:nvSpPr>
        <p:spPr>
          <a:xfrm xmlns:a="http://schemas.openxmlformats.org/drawingml/2006/main">
            <a:off x="952500" y="5314950"/>
            <a:ext cx="5429250"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18243B"/>
            </a:solidFill>
            <a:prstDash val="solid"/>
          </a:ln>
        </p:spPr>
      </p:sp>
      <p:sp>
        <p:nvSpPr>
          <p:cNvPr id="17" name="">
            <a:extLst xmlns:a="http://schemas.openxmlformats.org/drawingml/2006/main">
              <a:ext uri="{FF2B5EF4-FFF2-40B4-BE49-F238E27FC236}">
                <a16:creationId xmlns:a16="http://schemas.microsoft.com/office/drawing/2014/main" id="{677EA2B4-B859-4454-B947-20E1017657F5}"/>
              </a:ext>
            </a:extLst>
          </p:cNvPr>
          <p:cNvSpPr>
            <a:spLocks xmlns:a="http://schemas.openxmlformats.org/drawingml/2006/main" noGrp="1"/>
          </p:cNvSpPr>
          <p:nvPr/>
        </p:nvSpPr>
        <p:spPr>
          <a:xfrm xmlns:a="http://schemas.openxmlformats.org/drawingml/2006/main">
            <a:off x="1066800" y="5362575"/>
            <a:ext cx="5200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025" b="1">
                <a:solidFill>
                  <a:srgbClr val="3633A6"/>
                </a:solidFill>
                <a:latin typeface="DejaVu Sans"/>
                <a:ea typeface="DejaVu Sans"/>
                <a:cs typeface="DejaVu Sans"/>
              </a:defRPr>
            </a:defPPr>
          </a:lstStyle>
          <a:p xmlns:a="http://schemas.openxmlformats.org/drawingml/2006/main">
            <a:pPr algn="ctr">
              <a:defRPr sz="2025" b="1">
                <a:solidFill>
                  <a:srgbClr val="3633A6"/>
                </a:solidFill>
                <a:latin typeface="DejaVu Sans"/>
                <a:ea typeface="DejaVu Sans"/>
                <a:cs typeface="DejaVu Sans"/>
              </a:defRPr>
            </a:pPr>
            <a:r>
              <a:rPr sz="2025" b="1">
                <a:solidFill>
                  <a:srgbClr val="3633A6"/>
                </a:solidFill>
                <a:latin typeface="DejaVu Sans"/>
                <a:ea typeface="DejaVu Sans"/>
                <a:cs typeface="DejaVu Sans"/>
              </a:rPr>
              <a:t>Course</a:t>
            </a:r>
          </a:p>
        </p:txBody>
      </p:sp>
      <p:cxnSp>
        <p:nvCxnSpPr>
          <p:cNvPr id="18" name="">
            <a:extLst xmlns:a="http://schemas.openxmlformats.org/drawingml/2006/main">
              <a:ext uri="{FF2B5EF4-FFF2-40B4-BE49-F238E27FC236}">
                <a16:creationId xmlns:a16="http://schemas.microsoft.com/office/drawing/2014/main" id="{E6337F92-DD03-4AE3-98C3-8A70D9E425DF}"/>
              </a:ext>
            </a:extLst>
          </p:cNvPr>
          <p:cNvCxnSpPr/>
          <p:nvPr/>
        </p:nvCxnSpPr>
        <p:spPr>
          <a:xfrm xmlns:a="http://schemas.openxmlformats.org/drawingml/2006/main">
            <a:off x="952500" y="5753100"/>
            <a:ext cx="5429250" cy="0"/>
          </a:xfrm>
          <a:prstGeom xmlns:a="http://schemas.openxmlformats.org/drawingml/2006/main" prst="straightConnector1">
            <a:avLst/>
          </a:prstGeom>
          <a:ln xmlns:a="http://schemas.openxmlformats.org/drawingml/2006/main" w="9525">
            <a:solidFill>
              <a:srgbClr val="18243B"/>
            </a:solidFill>
            <a:prstDash val="solid"/>
          </a:ln>
        </p:spPr>
      </p:cxnSp>
      <p:sp>
        <p:nvSpPr>
          <p:cNvPr id="19" name="">
            <a:extLst xmlns:a="http://schemas.openxmlformats.org/drawingml/2006/main">
              <a:ext uri="{FF2B5EF4-FFF2-40B4-BE49-F238E27FC236}">
                <a16:creationId xmlns:a16="http://schemas.microsoft.com/office/drawing/2014/main" id="{42767FBA-F570-41F9-9794-3EE56E0DE5AC}"/>
              </a:ext>
            </a:extLst>
          </p:cNvPr>
          <p:cNvSpPr>
            <a:spLocks xmlns:a="http://schemas.openxmlformats.org/drawingml/2006/main" noGrp="1"/>
          </p:cNvSpPr>
          <p:nvPr/>
        </p:nvSpPr>
        <p:spPr>
          <a:xfrm xmlns:a="http://schemas.openxmlformats.org/drawingml/2006/main">
            <a:off x="1104900" y="5829300"/>
            <a:ext cx="51244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subject: Subject</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number: String</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name: String</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prereqs: List&lt;Course&gt;</a:t>
            </a:r>
          </a:p>
        </p:txBody>
      </p:sp>
      <p:cxnSp>
        <p:nvCxnSpPr>
          <p:cNvPr id="20" name="">
            <a:extLst xmlns:a="http://schemas.openxmlformats.org/drawingml/2006/main">
              <a:ext uri="{FF2B5EF4-FFF2-40B4-BE49-F238E27FC236}">
                <a16:creationId xmlns:a16="http://schemas.microsoft.com/office/drawing/2014/main" id="{7CC3517A-EAC3-4023-8625-C6052F7EE4ED}"/>
              </a:ext>
            </a:extLst>
          </p:cNvPr>
          <p:cNvCxnSpPr/>
          <p:nvPr/>
        </p:nvCxnSpPr>
        <p:spPr>
          <a:xfrm xmlns:a="http://schemas.openxmlformats.org/drawingml/2006/main">
            <a:off x="952500" y="7124700"/>
            <a:ext cx="5429250" cy="0"/>
          </a:xfrm>
          <a:prstGeom xmlns:a="http://schemas.openxmlformats.org/drawingml/2006/main" prst="straightConnector1">
            <a:avLst/>
          </a:prstGeom>
          <a:ln xmlns:a="http://schemas.openxmlformats.org/drawingml/2006/main" w="9525">
            <a:solidFill>
              <a:srgbClr val="18243B"/>
            </a:solidFill>
            <a:prstDash val="solid"/>
          </a:ln>
        </p:spPr>
      </p:cxnSp>
      <p:sp>
        <p:nvSpPr>
          <p:cNvPr id="21" name="">
            <a:extLst xmlns:a="http://schemas.openxmlformats.org/drawingml/2006/main">
              <a:ext uri="{FF2B5EF4-FFF2-40B4-BE49-F238E27FC236}">
                <a16:creationId xmlns:a16="http://schemas.microsoft.com/office/drawing/2014/main" id="{769F1319-0B49-45FC-8A1E-E9BAC44612B4}"/>
              </a:ext>
            </a:extLst>
          </p:cNvPr>
          <p:cNvSpPr>
            <a:spLocks xmlns:a="http://schemas.openxmlformats.org/drawingml/2006/main" noGrp="1"/>
          </p:cNvSpPr>
          <p:nvPr/>
        </p:nvSpPr>
        <p:spPr>
          <a:xfrm xmlns:a="http://schemas.openxmlformats.org/drawingml/2006/main">
            <a:off x="1104900" y="7210425"/>
            <a:ext cx="5124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prerequisitesMet(s: Student): bool</a:t>
            </a:r>
          </a:p>
        </p:txBody>
      </p:sp>
      <p:sp>
        <p:nvSpPr>
          <p:cNvPr id="22" name="">
            <a:extLst xmlns:a="http://schemas.openxmlformats.org/drawingml/2006/main">
              <a:ext uri="{FF2B5EF4-FFF2-40B4-BE49-F238E27FC236}">
                <a16:creationId xmlns:a16="http://schemas.microsoft.com/office/drawing/2014/main" id="{29711DFA-FD92-46D2-A77D-7E170399645A}"/>
              </a:ext>
            </a:extLst>
          </p:cNvPr>
          <p:cNvSpPr>
            <a:spLocks xmlns:a="http://schemas.openxmlformats.org/drawingml/2006/main" noGrp="1"/>
          </p:cNvSpPr>
          <p:nvPr/>
        </p:nvSpPr>
        <p:spPr>
          <a:xfrm xmlns:a="http://schemas.openxmlformats.org/drawingml/2006/main">
            <a:off x="8572500" y="5314950"/>
            <a:ext cx="5715000" cy="2381250"/>
          </a:xfrm>
          <a:prstGeom xmlns:a="http://schemas.openxmlformats.org/drawingml/2006/main" prst="rect">
            <a:avLst/>
          </a:prstGeom>
          <a:solidFill xmlns:a="http://schemas.openxmlformats.org/drawingml/2006/main">
            <a:srgbClr val="FFFFFF"/>
          </a:solidFill>
          <a:ln xmlns:a="http://schemas.openxmlformats.org/drawingml/2006/main" w="14288">
            <a:solidFill>
              <a:srgbClr val="18243B"/>
            </a:solidFill>
            <a:prstDash val="solid"/>
          </a:ln>
        </p:spPr>
      </p:sp>
      <p:sp>
        <p:nvSpPr>
          <p:cNvPr id="23" name="">
            <a:extLst xmlns:a="http://schemas.openxmlformats.org/drawingml/2006/main">
              <a:ext uri="{FF2B5EF4-FFF2-40B4-BE49-F238E27FC236}">
                <a16:creationId xmlns:a16="http://schemas.microsoft.com/office/drawing/2014/main" id="{7A6588D2-6FFB-4EC8-8E9F-351AC52874E5}"/>
              </a:ext>
            </a:extLst>
          </p:cNvPr>
          <p:cNvSpPr>
            <a:spLocks xmlns:a="http://schemas.openxmlformats.org/drawingml/2006/main" noGrp="1"/>
          </p:cNvSpPr>
          <p:nvPr/>
        </p:nvSpPr>
        <p:spPr>
          <a:xfrm xmlns:a="http://schemas.openxmlformats.org/drawingml/2006/main">
            <a:off x="8686800" y="5362575"/>
            <a:ext cx="5486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025" b="1">
                <a:solidFill>
                  <a:srgbClr val="3633A6"/>
                </a:solidFill>
                <a:latin typeface="DejaVu Sans"/>
                <a:ea typeface="DejaVu Sans"/>
                <a:cs typeface="DejaVu Sans"/>
              </a:defRPr>
            </a:defPPr>
          </a:lstStyle>
          <a:p xmlns:a="http://schemas.openxmlformats.org/drawingml/2006/main">
            <a:pPr algn="ctr">
              <a:defRPr sz="2025" b="1">
                <a:solidFill>
                  <a:srgbClr val="3633A6"/>
                </a:solidFill>
                <a:latin typeface="DejaVu Sans"/>
                <a:ea typeface="DejaVu Sans"/>
                <a:cs typeface="DejaVu Sans"/>
              </a:defRPr>
            </a:pPr>
            <a:r>
              <a:rPr sz="2025" b="1">
                <a:solidFill>
                  <a:srgbClr val="3633A6"/>
                </a:solidFill>
                <a:latin typeface="DejaVu Sans"/>
                <a:ea typeface="DejaVu Sans"/>
                <a:cs typeface="DejaVu Sans"/>
              </a:rPr>
              <a:t>Requirement</a:t>
            </a:r>
          </a:p>
        </p:txBody>
      </p:sp>
      <p:cxnSp>
        <p:nvCxnSpPr>
          <p:cNvPr id="24" name="">
            <a:extLst xmlns:a="http://schemas.openxmlformats.org/drawingml/2006/main">
              <a:ext uri="{FF2B5EF4-FFF2-40B4-BE49-F238E27FC236}">
                <a16:creationId xmlns:a16="http://schemas.microsoft.com/office/drawing/2014/main" id="{AEE08C6E-9312-43AA-B336-5BE9DA7B4F34}"/>
              </a:ext>
            </a:extLst>
          </p:cNvPr>
          <p:cNvCxnSpPr/>
          <p:nvPr/>
        </p:nvCxnSpPr>
        <p:spPr>
          <a:xfrm xmlns:a="http://schemas.openxmlformats.org/drawingml/2006/main">
            <a:off x="8572500" y="5753100"/>
            <a:ext cx="5715000" cy="0"/>
          </a:xfrm>
          <a:prstGeom xmlns:a="http://schemas.openxmlformats.org/drawingml/2006/main" prst="straightConnector1">
            <a:avLst/>
          </a:prstGeom>
          <a:ln xmlns:a="http://schemas.openxmlformats.org/drawingml/2006/main" w="9525">
            <a:solidFill>
              <a:srgbClr val="18243B"/>
            </a:solidFill>
            <a:prstDash val="solid"/>
          </a:ln>
        </p:spPr>
      </p:cxnSp>
      <p:sp>
        <p:nvSpPr>
          <p:cNvPr id="25" name="">
            <a:extLst xmlns:a="http://schemas.openxmlformats.org/drawingml/2006/main">
              <a:ext uri="{FF2B5EF4-FFF2-40B4-BE49-F238E27FC236}">
                <a16:creationId xmlns:a16="http://schemas.microsoft.com/office/drawing/2014/main" id="{D5C45052-7EDB-4845-A0A5-3148A92B6957}"/>
              </a:ext>
            </a:extLst>
          </p:cNvPr>
          <p:cNvSpPr>
            <a:spLocks xmlns:a="http://schemas.openxmlformats.org/drawingml/2006/main" noGrp="1"/>
          </p:cNvSpPr>
          <p:nvPr/>
        </p:nvSpPr>
        <p:spPr>
          <a:xfrm xmlns:a="http://schemas.openxmlformats.org/drawingml/2006/main">
            <a:off x="8724900" y="5829300"/>
            <a:ext cx="54102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type: RequirementType</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courses: Set&lt;Course&gt;</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extraKeys: Set&lt;String&gt;</a:t>
            </a:r>
          </a:p>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minimumCount: int</a:t>
            </a:r>
          </a:p>
        </p:txBody>
      </p:sp>
      <p:cxnSp>
        <p:nvCxnSpPr>
          <p:cNvPr id="26" name="">
            <a:extLst xmlns:a="http://schemas.openxmlformats.org/drawingml/2006/main">
              <a:ext uri="{FF2B5EF4-FFF2-40B4-BE49-F238E27FC236}">
                <a16:creationId xmlns:a16="http://schemas.microsoft.com/office/drawing/2014/main" id="{43A60157-9F8F-4F38-A744-06276947BF03}"/>
              </a:ext>
            </a:extLst>
          </p:cNvPr>
          <p:cNvCxnSpPr/>
          <p:nvPr/>
        </p:nvCxnSpPr>
        <p:spPr>
          <a:xfrm xmlns:a="http://schemas.openxmlformats.org/drawingml/2006/main">
            <a:off x="8572500" y="7124700"/>
            <a:ext cx="5715000" cy="0"/>
          </a:xfrm>
          <a:prstGeom xmlns:a="http://schemas.openxmlformats.org/drawingml/2006/main" prst="straightConnector1">
            <a:avLst/>
          </a:prstGeom>
          <a:ln xmlns:a="http://schemas.openxmlformats.org/drawingml/2006/main" w="9525">
            <a:solidFill>
              <a:srgbClr val="18243B"/>
            </a:solidFill>
            <a:prstDash val="solid"/>
          </a:ln>
        </p:spPr>
      </p:cxnSp>
      <p:sp>
        <p:nvSpPr>
          <p:cNvPr id="27" name="">
            <a:extLst xmlns:a="http://schemas.openxmlformats.org/drawingml/2006/main">
              <a:ext uri="{FF2B5EF4-FFF2-40B4-BE49-F238E27FC236}">
                <a16:creationId xmlns:a16="http://schemas.microsoft.com/office/drawing/2014/main" id="{D9ED14DE-B989-4530-A793-7104F8F45E90}"/>
              </a:ext>
            </a:extLst>
          </p:cNvPr>
          <p:cNvSpPr>
            <a:spLocks xmlns:a="http://schemas.openxmlformats.org/drawingml/2006/main" noGrp="1"/>
          </p:cNvSpPr>
          <p:nvPr/>
        </p:nvSpPr>
        <p:spPr>
          <a:xfrm xmlns:a="http://schemas.openxmlformats.org/drawingml/2006/main">
            <a:off x="8724900" y="7210425"/>
            <a:ext cx="5410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8243B"/>
                </a:solidFill>
                <a:latin typeface="DejaVu Sans"/>
                <a:ea typeface="DejaVu Sans"/>
                <a:cs typeface="DejaVu Sans"/>
              </a:defRPr>
            </a:defPPr>
          </a:lstStyle>
          <a:p xmlns:a="http://schemas.openxmlformats.org/drawingml/2006/main">
            <a:pPr algn="l">
              <a:defRPr sz="1650" b="0">
                <a:solidFill>
                  <a:srgbClr val="18243B"/>
                </a:solidFill>
                <a:latin typeface="DejaVu Sans"/>
                <a:ea typeface="DejaVu Sans"/>
                <a:cs typeface="DejaVu Sans"/>
              </a:defRPr>
            </a:pPr>
            <a:r>
              <a:rPr sz="1650" b="0">
                <a:solidFill>
                  <a:srgbClr val="18243B"/>
                </a:solidFill>
                <a:latin typeface="DejaVu Sans"/>
                <a:ea typeface="DejaVu Sans"/>
                <a:cs typeface="DejaVu Sans"/>
              </a:rPr>
              <a:t>+ isSatisfiedBy(s: Student): bool</a:t>
            </a:r>
          </a:p>
        </p:txBody>
      </p:sp>
      <p:sp>
        <p:nvSpPr>
          <p:cNvPr id="29" name="">
            <a:extLst xmlns:a="http://schemas.openxmlformats.org/drawingml/2006/main">
              <a:ext uri="{FF2B5EF4-FFF2-40B4-BE49-F238E27FC236}">
                <a16:creationId xmlns:a16="http://schemas.microsoft.com/office/drawing/2014/main" id="{067CECAF-9F77-422D-992B-2165C757BC68}"/>
              </a:ext>
            </a:extLst>
          </p:cNvPr>
          <p:cNvSpPr>
            <a:spLocks xmlns:a="http://schemas.openxmlformats.org/drawingml/2006/main" noGrp="1"/>
          </p:cNvSpPr>
          <p:nvPr/>
        </p:nvSpPr>
        <p:spPr>
          <a:xfrm xmlns:a="http://schemas.openxmlformats.org/drawingml/2006/main">
            <a:off x="6743700" y="2714625"/>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0">
                <a:solidFill>
                  <a:srgbClr val="536178"/>
                </a:solidFill>
                <a:latin typeface="DejaVu Sans"/>
                <a:ea typeface="DejaVu Sans"/>
                <a:cs typeface="DejaVu Sans"/>
              </a:defRPr>
            </a:defPPr>
          </a:lstStyle>
          <a:p xmlns:a="http://schemas.openxmlformats.org/drawingml/2006/main">
            <a:pPr algn="ctr">
              <a:defRPr sz="1650" b="0">
                <a:solidFill>
                  <a:srgbClr val="536178"/>
                </a:solidFill>
                <a:latin typeface="DejaVu Sans"/>
                <a:ea typeface="DejaVu Sans"/>
                <a:cs typeface="DejaVu Sans"/>
              </a:defRPr>
            </a:pPr>
            <a:r>
              <a:rPr sz="1650" b="0">
                <a:solidFill>
                  <a:srgbClr val="536178"/>
                </a:solidFill>
                <a:latin typeface="DejaVu Sans"/>
                <a:ea typeface="DejaVu Sans"/>
                <a:cs typeface="DejaVu Sans"/>
              </a:rPr>
              <a:t>uses</a:t>
            </a:r>
          </a:p>
        </p:txBody>
      </p:sp>
      <p:sp>
        <p:nvSpPr>
          <p:cNvPr id="31" name="">
            <a:extLst xmlns:a="http://schemas.openxmlformats.org/drawingml/2006/main">
              <a:ext uri="{FF2B5EF4-FFF2-40B4-BE49-F238E27FC236}">
                <a16:creationId xmlns:a16="http://schemas.microsoft.com/office/drawing/2014/main" id="{77AD2588-68AA-4291-8FBB-2786B663831D}"/>
              </a:ext>
            </a:extLst>
          </p:cNvPr>
          <p:cNvSpPr>
            <a:spLocks xmlns:a="http://schemas.openxmlformats.org/drawingml/2006/main" noGrp="1"/>
          </p:cNvSpPr>
          <p:nvPr/>
        </p:nvSpPr>
        <p:spPr>
          <a:xfrm xmlns:a="http://schemas.openxmlformats.org/drawingml/2006/main">
            <a:off x="1143000" y="46672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536178"/>
                </a:solidFill>
                <a:latin typeface="DejaVu Sans"/>
                <a:ea typeface="DejaVu Sans"/>
                <a:cs typeface="DejaVu Sans"/>
              </a:defRPr>
            </a:defPPr>
          </a:lstStyle>
          <a:p xmlns:a="http://schemas.openxmlformats.org/drawingml/2006/main">
            <a:pPr algn="l">
              <a:defRPr sz="1575" b="0">
                <a:solidFill>
                  <a:srgbClr val="536178"/>
                </a:solidFill>
                <a:latin typeface="DejaVu Sans"/>
                <a:ea typeface="DejaVu Sans"/>
                <a:cs typeface="DejaVu Sans"/>
              </a:defRPr>
            </a:pPr>
            <a:r>
              <a:rPr sz="1575" b="0">
                <a:solidFill>
                  <a:srgbClr val="536178"/>
                </a:solidFill>
                <a:latin typeface="DejaVu Sans"/>
                <a:ea typeface="DejaVu Sans"/>
                <a:cs typeface="DejaVu Sans"/>
              </a:rPr>
              <a:t>completed courses</a:t>
            </a:r>
          </a:p>
        </p:txBody>
      </p:sp>
      <p:sp>
        <p:nvSpPr>
          <p:cNvPr id="32" name="">
            <a:extLst xmlns:a="http://schemas.openxmlformats.org/drawingml/2006/main">
              <a:ext uri="{FF2B5EF4-FFF2-40B4-BE49-F238E27FC236}">
                <a16:creationId xmlns:a16="http://schemas.microsoft.com/office/drawing/2014/main" id="{9A5F65F9-CCCB-4CFA-8B0C-C64BFF07EB00}"/>
              </a:ext>
            </a:extLst>
          </p:cNvPr>
          <p:cNvSpPr>
            <a:spLocks xmlns:a="http://schemas.openxmlformats.org/drawingml/2006/main" noGrp="1"/>
          </p:cNvSpPr>
          <p:nvPr/>
        </p:nvSpPr>
        <p:spPr>
          <a:xfrm xmlns:a="http://schemas.openxmlformats.org/drawingml/2006/main">
            <a:off x="3714750" y="50101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8243B"/>
                </a:solidFill>
                <a:latin typeface="DejaVu Sans"/>
                <a:ea typeface="DejaVu Sans"/>
                <a:cs typeface="DejaVu Sans"/>
              </a:defRPr>
            </a:defPPr>
          </a:lstStyle>
          <a:p xmlns:a="http://schemas.openxmlformats.org/drawingml/2006/main">
            <a:pPr algn="l">
              <a:defRPr sz="1500" b="0">
                <a:solidFill>
                  <a:srgbClr val="18243B"/>
                </a:solidFill>
                <a:latin typeface="DejaVu Sans"/>
                <a:ea typeface="DejaVu Sans"/>
                <a:cs typeface="DejaVu Sans"/>
              </a:defRPr>
            </a:pPr>
            <a:r>
              <a:rPr sz="1500" b="0">
                <a:solidFill>
                  <a:srgbClr val="18243B"/>
                </a:solidFill>
                <a:latin typeface="DejaVu Sans"/>
                <a:ea typeface="DejaVu Sans"/>
                <a:cs typeface="DejaVu Sans"/>
              </a:rPr>
              <a:t>0..*</a:t>
            </a:r>
          </a:p>
        </p:txBody>
      </p:sp>
      <p:sp>
        <p:nvSpPr>
          <p:cNvPr id="33" name="">
            <a:extLst xmlns:a="http://schemas.openxmlformats.org/drawingml/2006/main">
              <a:ext uri="{FF2B5EF4-FFF2-40B4-BE49-F238E27FC236}">
                <a16:creationId xmlns:a16="http://schemas.microsoft.com/office/drawing/2014/main" id="{F0DB8093-230E-40B2-AB0C-D3A07C722D9A}"/>
              </a:ext>
            </a:extLst>
          </p:cNvPr>
          <p:cNvSpPr>
            <a:spLocks xmlns:a="http://schemas.openxmlformats.org/drawingml/2006/main" noGrp="1"/>
          </p:cNvSpPr>
          <p:nvPr/>
        </p:nvSpPr>
        <p:spPr>
          <a:xfrm xmlns:a="http://schemas.openxmlformats.org/drawingml/2006/main">
            <a:off x="3714750" y="4419600"/>
            <a:ext cx="66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8243B"/>
                </a:solidFill>
                <a:latin typeface="DejaVu Sans"/>
                <a:ea typeface="DejaVu Sans"/>
                <a:cs typeface="DejaVu Sans"/>
              </a:defRPr>
            </a:defPPr>
          </a:lstStyle>
          <a:p xmlns:a="http://schemas.openxmlformats.org/drawingml/2006/main">
            <a:pPr algn="l">
              <a:defRPr sz="1500" b="0">
                <a:solidFill>
                  <a:srgbClr val="18243B"/>
                </a:solidFill>
                <a:latin typeface="DejaVu Sans"/>
                <a:ea typeface="DejaVu Sans"/>
                <a:cs typeface="DejaVu Sans"/>
              </a:defRPr>
            </a:pPr>
            <a:r>
              <a:rPr sz="1500" b="0">
                <a:solidFill>
                  <a:srgbClr val="18243B"/>
                </a:solidFill>
                <a:latin typeface="DejaVu Sans"/>
                <a:ea typeface="DejaVu Sans"/>
                <a:cs typeface="DejaVu Sans"/>
              </a:rPr>
              <a:t>0..*</a:t>
            </a:r>
          </a:p>
        </p:txBody>
      </p:sp>
      <p:sp>
        <p:nvSpPr>
          <p:cNvPr id="35" name="">
            <a:extLst xmlns:a="http://schemas.openxmlformats.org/drawingml/2006/main">
              <a:ext uri="{FF2B5EF4-FFF2-40B4-BE49-F238E27FC236}">
                <a16:creationId xmlns:a16="http://schemas.microsoft.com/office/drawing/2014/main" id="{C00424FF-7AD9-4D4C-85E5-ECAFA9F730B9}"/>
              </a:ext>
            </a:extLst>
          </p:cNvPr>
          <p:cNvSpPr>
            <a:spLocks xmlns:a="http://schemas.openxmlformats.org/drawingml/2006/main" noGrp="1"/>
          </p:cNvSpPr>
          <p:nvPr/>
        </p:nvSpPr>
        <p:spPr>
          <a:xfrm xmlns:a="http://schemas.openxmlformats.org/drawingml/2006/main">
            <a:off x="11811000" y="46672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536178"/>
                </a:solidFill>
                <a:latin typeface="DejaVu Sans"/>
                <a:ea typeface="DejaVu Sans"/>
                <a:cs typeface="DejaVu Sans"/>
              </a:defRPr>
            </a:defPPr>
          </a:lstStyle>
          <a:p xmlns:a="http://schemas.openxmlformats.org/drawingml/2006/main">
            <a:pPr algn="l">
              <a:defRPr sz="1575" b="0">
                <a:solidFill>
                  <a:srgbClr val="536178"/>
                </a:solidFill>
                <a:latin typeface="DejaVu Sans"/>
                <a:ea typeface="DejaVu Sans"/>
                <a:cs typeface="DejaVu Sans"/>
              </a:defRPr>
            </a:pPr>
            <a:r>
              <a:rPr sz="1575" b="0">
                <a:solidFill>
                  <a:srgbClr val="536178"/>
                </a:solidFill>
                <a:latin typeface="DejaVu Sans"/>
                <a:ea typeface="DejaVu Sans"/>
                <a:cs typeface="DejaVu Sans"/>
              </a:rPr>
              <a:t>owns</a:t>
            </a:r>
          </a:p>
        </p:txBody>
      </p:sp>
      <p:sp>
        <p:nvSpPr>
          <p:cNvPr id="36" name="">
            <a:extLst xmlns:a="http://schemas.openxmlformats.org/drawingml/2006/main">
              <a:ext uri="{FF2B5EF4-FFF2-40B4-BE49-F238E27FC236}">
                <a16:creationId xmlns:a16="http://schemas.microsoft.com/office/drawing/2014/main" id="{10F6BA2A-C65F-480F-94B7-916B2CB6E282}"/>
              </a:ext>
            </a:extLst>
          </p:cNvPr>
          <p:cNvSpPr>
            <a:spLocks xmlns:a="http://schemas.openxmlformats.org/drawingml/2006/main" noGrp="1"/>
          </p:cNvSpPr>
          <p:nvPr/>
        </p:nvSpPr>
        <p:spPr>
          <a:xfrm xmlns:a="http://schemas.openxmlformats.org/drawingml/2006/main">
            <a:off x="11068050" y="441960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8243B"/>
                </a:solidFill>
                <a:latin typeface="DejaVu Sans"/>
                <a:ea typeface="DejaVu Sans"/>
                <a:cs typeface="DejaVu Sans"/>
              </a:defRPr>
            </a:defPPr>
          </a:lstStyle>
          <a:p xmlns:a="http://schemas.openxmlformats.org/drawingml/2006/main">
            <a:pPr algn="l">
              <a:defRPr sz="1500" b="0">
                <a:solidFill>
                  <a:srgbClr val="18243B"/>
                </a:solidFill>
                <a:latin typeface="DejaVu Sans"/>
                <a:ea typeface="DejaVu Sans"/>
                <a:cs typeface="DejaVu Sans"/>
              </a:defRPr>
            </a:pPr>
            <a:r>
              <a:rPr sz="1500" b="0">
                <a:solidFill>
                  <a:srgbClr val="18243B"/>
                </a:solidFill>
                <a:latin typeface="DejaVu Sans"/>
                <a:ea typeface="DejaVu Sans"/>
                <a:cs typeface="DejaVu Sans"/>
              </a:rPr>
              <a:t>1</a:t>
            </a:r>
          </a:p>
        </p:txBody>
      </p:sp>
      <p:sp>
        <p:nvSpPr>
          <p:cNvPr id="37" name="">
            <a:extLst xmlns:a="http://schemas.openxmlformats.org/drawingml/2006/main">
              <a:ext uri="{FF2B5EF4-FFF2-40B4-BE49-F238E27FC236}">
                <a16:creationId xmlns:a16="http://schemas.microsoft.com/office/drawing/2014/main" id="{D35496F2-B160-43D5-A4A5-2295403F3B50}"/>
              </a:ext>
            </a:extLst>
          </p:cNvPr>
          <p:cNvSpPr>
            <a:spLocks xmlns:a="http://schemas.openxmlformats.org/drawingml/2006/main" noGrp="1"/>
          </p:cNvSpPr>
          <p:nvPr/>
        </p:nvSpPr>
        <p:spPr>
          <a:xfrm xmlns:a="http://schemas.openxmlformats.org/drawingml/2006/main">
            <a:off x="10896600" y="50101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8243B"/>
                </a:solidFill>
                <a:latin typeface="DejaVu Sans"/>
                <a:ea typeface="DejaVu Sans"/>
                <a:cs typeface="DejaVu Sans"/>
              </a:defRPr>
            </a:defPPr>
          </a:lstStyle>
          <a:p xmlns:a="http://schemas.openxmlformats.org/drawingml/2006/main">
            <a:pPr algn="l">
              <a:defRPr sz="1500" b="0">
                <a:solidFill>
                  <a:srgbClr val="18243B"/>
                </a:solidFill>
                <a:latin typeface="DejaVu Sans"/>
                <a:ea typeface="DejaVu Sans"/>
                <a:cs typeface="DejaVu Sans"/>
              </a:defRPr>
            </a:pPr>
            <a:r>
              <a:rPr sz="1500" b="0">
                <a:solidFill>
                  <a:srgbClr val="18243B"/>
                </a:solidFill>
                <a:latin typeface="DejaVu Sans"/>
                <a:ea typeface="DejaVu Sans"/>
                <a:cs typeface="DejaVu Sans"/>
              </a:rPr>
              <a:t>0..*</a:t>
            </a:r>
          </a:p>
        </p:txBody>
      </p:sp>
      <p:sp>
        <p:nvSpPr>
          <p:cNvPr id="39" name="">
            <a:extLst xmlns:a="http://schemas.openxmlformats.org/drawingml/2006/main">
              <a:ext uri="{FF2B5EF4-FFF2-40B4-BE49-F238E27FC236}">
                <a16:creationId xmlns:a16="http://schemas.microsoft.com/office/drawing/2014/main" id="{367A68B6-9891-42AD-AD0C-16FB8B5FDB75}"/>
              </a:ext>
            </a:extLst>
          </p:cNvPr>
          <p:cNvSpPr>
            <a:spLocks xmlns:a="http://schemas.openxmlformats.org/drawingml/2006/main" noGrp="1"/>
          </p:cNvSpPr>
          <p:nvPr/>
        </p:nvSpPr>
        <p:spPr>
          <a:xfrm xmlns:a="http://schemas.openxmlformats.org/drawingml/2006/main">
            <a:off x="6629400" y="6067425"/>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536178"/>
                </a:solidFill>
                <a:latin typeface="DejaVu Sans"/>
                <a:ea typeface="DejaVu Sans"/>
                <a:cs typeface="DejaVu Sans"/>
              </a:defRPr>
            </a:defPPr>
          </a:lstStyle>
          <a:p xmlns:a="http://schemas.openxmlformats.org/drawingml/2006/main">
            <a:pPr algn="ctr">
              <a:defRPr sz="1575" b="0">
                <a:solidFill>
                  <a:srgbClr val="536178"/>
                </a:solidFill>
                <a:latin typeface="DejaVu Sans"/>
                <a:ea typeface="DejaVu Sans"/>
                <a:cs typeface="DejaVu Sans"/>
              </a:defRPr>
            </a:pPr>
            <a:r>
              <a:rPr sz="1575" b="0">
                <a:solidFill>
                  <a:srgbClr val="536178"/>
                </a:solidFill>
                <a:latin typeface="DejaVu Sans"/>
                <a:ea typeface="DejaVu Sans"/>
                <a:cs typeface="DejaVu Sans"/>
              </a:rPr>
              <a:t>references</a:t>
            </a:r>
          </a:p>
        </p:txBody>
      </p:sp>
      <p:sp>
        <p:nvSpPr>
          <p:cNvPr id="40" name="">
            <a:extLst xmlns:a="http://schemas.openxmlformats.org/drawingml/2006/main">
              <a:ext uri="{FF2B5EF4-FFF2-40B4-BE49-F238E27FC236}">
                <a16:creationId xmlns:a16="http://schemas.microsoft.com/office/drawing/2014/main" id="{35D29504-60FE-4012-B424-B47CD2D84113}"/>
              </a:ext>
            </a:extLst>
          </p:cNvPr>
          <p:cNvSpPr>
            <a:spLocks xmlns:a="http://schemas.openxmlformats.org/drawingml/2006/main" noGrp="1"/>
          </p:cNvSpPr>
          <p:nvPr/>
        </p:nvSpPr>
        <p:spPr>
          <a:xfrm xmlns:a="http://schemas.openxmlformats.org/drawingml/2006/main">
            <a:off x="6477000" y="6619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8243B"/>
                </a:solidFill>
                <a:latin typeface="DejaVu Sans"/>
                <a:ea typeface="DejaVu Sans"/>
                <a:cs typeface="DejaVu Sans"/>
              </a:defRPr>
            </a:defPPr>
          </a:lstStyle>
          <a:p xmlns:a="http://schemas.openxmlformats.org/drawingml/2006/main">
            <a:pPr algn="l">
              <a:defRPr sz="1500" b="0">
                <a:solidFill>
                  <a:srgbClr val="18243B"/>
                </a:solidFill>
                <a:latin typeface="DejaVu Sans"/>
                <a:ea typeface="DejaVu Sans"/>
                <a:cs typeface="DejaVu Sans"/>
              </a:defRPr>
            </a:pPr>
            <a:r>
              <a:rPr sz="1500" b="0">
                <a:solidFill>
                  <a:srgbClr val="18243B"/>
                </a:solidFill>
                <a:latin typeface="DejaVu Sans"/>
                <a:ea typeface="DejaVu Sans"/>
                <a:cs typeface="DejaVu Sans"/>
              </a:rPr>
              <a:t>0..*</a:t>
            </a:r>
          </a:p>
        </p:txBody>
      </p:sp>
      <p:sp>
        <p:nvSpPr>
          <p:cNvPr id="41" name="">
            <a:extLst xmlns:a="http://schemas.openxmlformats.org/drawingml/2006/main">
              <a:ext uri="{FF2B5EF4-FFF2-40B4-BE49-F238E27FC236}">
                <a16:creationId xmlns:a16="http://schemas.microsoft.com/office/drawing/2014/main" id="{0C1E9B52-A339-4CB0-8E24-8E52FE7B112F}"/>
              </a:ext>
            </a:extLst>
          </p:cNvPr>
          <p:cNvSpPr>
            <a:spLocks xmlns:a="http://schemas.openxmlformats.org/drawingml/2006/main" noGrp="1"/>
          </p:cNvSpPr>
          <p:nvPr/>
        </p:nvSpPr>
        <p:spPr>
          <a:xfrm xmlns:a="http://schemas.openxmlformats.org/drawingml/2006/main">
            <a:off x="7762875" y="6619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18243B"/>
                </a:solidFill>
                <a:latin typeface="DejaVu Sans"/>
                <a:ea typeface="DejaVu Sans"/>
                <a:cs typeface="DejaVu Sans"/>
              </a:defRPr>
            </a:defPPr>
          </a:lstStyle>
          <a:p xmlns:a="http://schemas.openxmlformats.org/drawingml/2006/main">
            <a:pPr algn="l">
              <a:defRPr sz="1500" b="0">
                <a:solidFill>
                  <a:srgbClr val="18243B"/>
                </a:solidFill>
                <a:latin typeface="DejaVu Sans"/>
                <a:ea typeface="DejaVu Sans"/>
                <a:cs typeface="DejaVu Sans"/>
              </a:defRPr>
            </a:pPr>
            <a:r>
              <a:rPr sz="1500" b="0">
                <a:solidFill>
                  <a:srgbClr val="18243B"/>
                </a:solidFill>
                <a:latin typeface="DejaVu Sans"/>
                <a:ea typeface="DejaVu Sans"/>
                <a:cs typeface="DejaVu Sans"/>
              </a:rPr>
              <a:t>0..*</a:t>
            </a:r>
          </a:p>
        </p:txBody>
      </p:sp>
    </p:spTree>
    <p:extLst>
      <p:ext uri="{BB962C8B-B14F-4D97-AF65-F5344CB8AC3E}">
        <p14:creationId xmlns:p14="http://schemas.microsoft.com/office/powerpoint/2010/main" val="1955200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E61B5C-269F-4911-B00C-34E0F19D9BAF}"/>
              </a:ext>
            </a:extLst>
          </p:cNvPr>
          <p:cNvSpPr>
            <a:spLocks xmlns:a="http://schemas.openxmlformats.org/drawingml/2006/main" noGrp="1"/>
          </p:cNvSpPr>
          <p:nvPr/>
        </p:nvSpPr>
        <p:spPr>
          <a:xfrm xmlns:a="http://schemas.openxmlformats.org/drawingml/2006/main">
            <a:off x="609600" y="400050"/>
            <a:ext cx="1402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3633A6"/>
                </a:solidFill>
                <a:latin typeface="DejaVu Sans"/>
                <a:ea typeface="DejaVu Sans"/>
                <a:cs typeface="DejaVu Sans"/>
              </a:defRPr>
            </a:defPPr>
          </a:lstStyle>
          <a:p xmlns:a="http://schemas.openxmlformats.org/drawingml/2006/main">
            <a:pPr algn="l">
              <a:defRPr sz="3450" b="1">
                <a:solidFill>
                  <a:srgbClr val="3633A6"/>
                </a:solidFill>
                <a:latin typeface="DejaVu Sans"/>
                <a:ea typeface="DejaVu Sans"/>
                <a:cs typeface="DejaVu Sans"/>
              </a:defRPr>
            </a:pPr>
            <a:r>
              <a:rPr sz="3450" b="1">
                <a:solidFill>
                  <a:srgbClr val="3633A6"/>
                </a:solidFill>
                <a:latin typeface="DejaVu Sans"/>
                <a:ea typeface="DejaVu Sans"/>
                <a:cs typeface="DejaVu Sans"/>
              </a:rPr>
              <a:t>Design Decisions</a:t>
            </a:r>
          </a:p>
        </p:txBody>
      </p:sp>
      <p:sp>
        <p:nvSpPr>
          <p:cNvPr id="2" name="">
            <a:extLst xmlns:a="http://schemas.openxmlformats.org/drawingml/2006/main">
              <a:ext uri="{FF2B5EF4-FFF2-40B4-BE49-F238E27FC236}">
                <a16:creationId xmlns:a16="http://schemas.microsoft.com/office/drawing/2014/main" id="{02E62B24-2C70-4F28-9A34-A51CA718961F}"/>
              </a:ext>
            </a:extLst>
          </p:cNvPr>
          <p:cNvSpPr>
            <a:spLocks xmlns:a="http://schemas.openxmlformats.org/drawingml/2006/main" noGrp="1"/>
          </p:cNvSpPr>
          <p:nvPr/>
        </p:nvSpPr>
        <p:spPr>
          <a:xfrm xmlns:a="http://schemas.openxmlformats.org/drawingml/2006/main">
            <a:off x="609600" y="1143000"/>
            <a:ext cx="1402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536178"/>
                </a:solidFill>
                <a:latin typeface="DejaVu Sans"/>
                <a:ea typeface="DejaVu Sans"/>
                <a:cs typeface="DejaVu Sans"/>
              </a:defRPr>
            </a:defPPr>
          </a:lstStyle>
          <a:p xmlns:a="http://schemas.openxmlformats.org/drawingml/2006/main">
            <a:pPr algn="l">
              <a:defRPr sz="1875" b="0">
                <a:solidFill>
                  <a:srgbClr val="536178"/>
                </a:solidFill>
                <a:latin typeface="DejaVu Sans"/>
                <a:ea typeface="DejaVu Sans"/>
                <a:cs typeface="DejaVu Sans"/>
              </a:defRPr>
            </a:pPr>
            <a:r>
              <a:rPr sz="1875" b="0">
                <a:solidFill>
                  <a:srgbClr val="536178"/>
                </a:solidFill>
                <a:latin typeface="DejaVu Sans"/>
                <a:ea typeface="DejaVu Sans"/>
                <a:cs typeface="DejaVu Sans"/>
              </a:rPr>
              <a:t>Ownership follows object lifetime. Each class owns a clear business rule.</a:t>
            </a:r>
          </a:p>
        </p:txBody>
      </p:sp>
      <p:sp>
        <p:nvSpPr>
          <p:cNvPr id="3" name="">
            <a:extLst xmlns:a="http://schemas.openxmlformats.org/drawingml/2006/main">
              <a:ext uri="{FF2B5EF4-FFF2-40B4-BE49-F238E27FC236}">
                <a16:creationId xmlns:a16="http://schemas.microsoft.com/office/drawing/2014/main" id="{61B93A9B-80E7-46E9-80BB-16C2A08A46C0}"/>
              </a:ext>
            </a:extLst>
          </p:cNvPr>
          <p:cNvSpPr>
            <a:spLocks xmlns:a="http://schemas.openxmlformats.org/drawingml/2006/main" noGrp="1"/>
          </p:cNvSpPr>
          <p:nvPr/>
        </p:nvSpPr>
        <p:spPr>
          <a:xfrm xmlns:a="http://schemas.openxmlformats.org/drawingml/2006/main">
            <a:off x="13906500" y="80391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500" b="0">
                <a:solidFill>
                  <a:srgbClr val="536178"/>
                </a:solidFill>
                <a:latin typeface="DejaVu Sans"/>
                <a:ea typeface="DejaVu Sans"/>
                <a:cs typeface="DejaVu Sans"/>
              </a:defRPr>
            </a:defPPr>
          </a:lstStyle>
          <a:p xmlns:a="http://schemas.openxmlformats.org/drawingml/2006/main">
            <a:pPr algn="r">
              <a:defRPr sz="1500" b="0">
                <a:solidFill>
                  <a:srgbClr val="536178"/>
                </a:solidFill>
                <a:latin typeface="DejaVu Sans"/>
                <a:ea typeface="DejaVu Sans"/>
                <a:cs typeface="DejaVu Sans"/>
              </a:defRPr>
            </a:pPr>
            <a:r>
              <a:rPr sz="1500" b="0">
                <a:solidFill>
                  <a:srgbClr val="536178"/>
                </a:solidFill>
                <a:latin typeface="DejaVu Sans"/>
                <a:ea typeface="DejaVu Sans"/>
                <a:cs typeface="DejaVu Sans"/>
              </a:rPr>
              <a:t>03</a:t>
            </a:r>
          </a:p>
        </p:txBody>
      </p:sp>
      <p:graphicFrame>
        <p:nvGraphicFramePr>
          <p:cNvPr id="4" name="">
            <a:extLst xmlns:a="http://schemas.openxmlformats.org/drawingml/2006/main">
              <a:ext uri="{FF2B5EF4-FFF2-40B4-BE49-F238E27FC236}">
                <a16:creationId xmlns:a16="http://schemas.microsoft.com/office/drawing/2014/main" id="{8FF0C0AA-BCB5-440F-BA97-9FE9FEB11DCB}"/>
              </a:ext>
            </a:extLst>
          </p:cNvPr>
          <p:cNvGraphicFramePr/>
          <p:nvPr/>
        </p:nvGraphicFramePr>
        <p:xfrm>
          <a:off xmlns:a="http://schemas.openxmlformats.org/drawingml/2006/main" x="609600" y="1962150"/>
          <a:ext xmlns:a="http://schemas.openxmlformats.org/drawingml/2006/main" cx="14020800" cy="5334000"/>
        </p:xfrm>
        <a:graphic xmlns:a="http://schemas.openxmlformats.org/drawingml/2006/main">
          <a:graphicData uri="http://schemas.openxmlformats.org/drawingml/2006/table">
            <a:tbl>
              <a:tblPr/>
              <a:tblGrid>
                <a:gridCol w="4857750"/>
                <a:gridCol w="9163050"/>
              </a:tblGrid>
              <a:tr h="609600">
                <a:tc>
                  <a:txBody>
                    <a:bodyPr lIns="152400" tIns="152400" rIns="152400" bIns="152400"/>
                    <a:lstStyle/>
                    <a:p>
                      <a:r>
                        <a:rPr sz="1875" b="1">
                          <a:solidFill>
                            <a:srgbClr val="FFFFFF"/>
                          </a:solidFill>
                          <a:latin typeface="DejaVu Sans"/>
                          <a:ea typeface="DejaVu Sans"/>
                          <a:cs typeface="DejaVu Sans"/>
                        </a:rPr>
                        <a:t>Decision</a:t>
                      </a:r>
                    </a:p>
                  </a:txBody>
                  <a:tcPr marL="91440" marR="91440" marT="45720" marB="45720" anchor="ctr">
                    <a:lnL w="9525">
                      <a:solidFill>
                        <a:srgbClr val="CCD2E0"/>
                      </a:solidFill>
                      <a:prstDash val="solid"/>
                    </a:lnL>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c>
                  <a:txBody>
                    <a:bodyPr lIns="152400" tIns="152400" rIns="152400" bIns="152400"/>
                    <a:lstStyle/>
                    <a:p>
                      <a:r>
                        <a:rPr sz="1875" b="1">
                          <a:solidFill>
                            <a:srgbClr val="FFFFFF"/>
                          </a:solidFill>
                          <a:latin typeface="DejaVu Sans"/>
                          <a:ea typeface="DejaVu Sans"/>
                          <a:cs typeface="DejaVu Sans"/>
                        </a:rPr>
                        <a:t>Rationale</a:t>
                      </a:r>
                    </a:p>
                  </a:txBody>
                  <a:tcPr marL="91440" marR="91440" marT="45720" marB="45720" anchor="ctr">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r>
              <a:tr h="1181100">
                <a:tc>
                  <a:txBody>
                    <a:bodyPr lIns="152400" tIns="152400" rIns="152400" bIns="152400"/>
                    <a:lstStyle/>
                    <a:p>
                      <a:r>
                        <a:rPr sz="1875" b="0">
                          <a:solidFill>
                            <a:srgbClr val="18243B"/>
                          </a:solidFill>
                          <a:latin typeface="DejaVu Sans"/>
                          <a:ea typeface="DejaVu Sans"/>
                          <a:cs typeface="DejaVu Sans"/>
                        </a:rPr>
                        <a:t>Composition</a:t>
                      </a:r>
                    </a:p>
                    <a:p>
                      <a:r>
                        <a:rPr sz="1875" b="0">
                          <a:solidFill>
                            <a:srgbClr val="18243B"/>
                          </a:solidFill>
                          <a:latin typeface="DejaVu Sans"/>
                          <a:ea typeface="DejaVu Sans"/>
                          <a:cs typeface="DejaVu Sans"/>
                        </a:rPr>
                        <a:t>Curriculum owns Requirement</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Each rule instance belongs to one curriculum. Removing that curriculum removes its rule instances.</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1181100">
                <a:tc>
                  <a:txBody>
                    <a:bodyPr lIns="152400" tIns="152400" rIns="152400" bIns="152400"/>
                    <a:lstStyle/>
                    <a:p>
                      <a:r>
                        <a:rPr sz="1875" b="0">
                          <a:solidFill>
                            <a:srgbClr val="18243B"/>
                          </a:solidFill>
                          <a:latin typeface="DejaVu Sans"/>
                          <a:ea typeface="DejaVu Sans"/>
                          <a:cs typeface="DejaVu Sans"/>
                        </a:rPr>
                        <a:t>Association</a:t>
                      </a:r>
                    </a:p>
                    <a:p>
                      <a:r>
                        <a:rPr sz="1875" b="0">
                          <a:solidFill>
                            <a:srgbClr val="18243B"/>
                          </a:solidFill>
                          <a:latin typeface="DejaVu Sans"/>
                          <a:ea typeface="DejaVu Sans"/>
                          <a:cs typeface="DejaVu Sans"/>
                        </a:rPr>
                        <a:t>Requirement and Student reference Course</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Multiple rules and students can share a catalog course. Course records remain independent.</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r h="1181100">
                <a:tc>
                  <a:txBody>
                    <a:bodyPr lIns="152400" tIns="152400" rIns="152400" bIns="152400"/>
                    <a:lstStyle/>
                    <a:p>
                      <a:r>
                        <a:rPr sz="1875" b="0">
                          <a:solidFill>
                            <a:srgbClr val="18243B"/>
                          </a:solidFill>
                          <a:latin typeface="DejaVu Sans"/>
                          <a:ea typeface="DejaVu Sans"/>
                          <a:cs typeface="DejaVu Sans"/>
                        </a:rPr>
                        <a:t>Composition instead of inheritance</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A curriculum contains requirements. These classes do not represent specialized kinds of each other.</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1181100">
                <a:tc>
                  <a:txBody>
                    <a:bodyPr lIns="152400" tIns="152400" rIns="152400" bIns="152400"/>
                    <a:lstStyle/>
                    <a:p>
                      <a:r>
                        <a:rPr sz="1875" b="0">
                          <a:solidFill>
                            <a:srgbClr val="18243B"/>
                          </a:solidFill>
                          <a:latin typeface="DejaVu Sans"/>
                          <a:ea typeface="DejaVu Sans"/>
                          <a:cs typeface="DejaVu Sans"/>
                        </a:rPr>
                        <a:t>Rule ownership</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Requirement evaluates completion. Course checks prerequisites. Curriculum coordinates the full workflow.</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bl>
          </a:graphicData>
        </a:graphic>
      </p:graphicFrame>
      <p:sp>
        <p:nvSpPr>
          <p:cNvPr id="5" name="">
            <a:extLst xmlns:a="http://schemas.openxmlformats.org/drawingml/2006/main">
              <a:ext uri="{FF2B5EF4-FFF2-40B4-BE49-F238E27FC236}">
                <a16:creationId xmlns:a16="http://schemas.microsoft.com/office/drawing/2014/main" id="{0D053CD5-E70D-4D50-9EF6-36865B2E02B9}"/>
              </a:ext>
            </a:extLst>
          </p:cNvPr>
          <p:cNvSpPr>
            <a:spLocks xmlns:a="http://schemas.openxmlformats.org/drawingml/2006/main" noGrp="1"/>
          </p:cNvSpPr>
          <p:nvPr/>
        </p:nvSpPr>
        <p:spPr>
          <a:xfrm xmlns:a="http://schemas.openxmlformats.org/drawingml/2006/main">
            <a:off x="609600" y="7524750"/>
            <a:ext cx="1352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36178"/>
                </a:solidFill>
                <a:latin typeface="DejaVu Sans"/>
                <a:ea typeface="DejaVu Sans"/>
                <a:cs typeface="DejaVu Sans"/>
              </a:defRPr>
            </a:defPPr>
          </a:lstStyle>
          <a:p xmlns:a="http://schemas.openxmlformats.org/drawingml/2006/main">
            <a:pPr algn="l">
              <a:defRPr sz="1725" b="0">
                <a:solidFill>
                  <a:srgbClr val="536178"/>
                </a:solidFill>
                <a:latin typeface="DejaVu Sans"/>
                <a:ea typeface="DejaVu Sans"/>
                <a:cs typeface="DejaVu Sans"/>
              </a:defRPr>
            </a:pPr>
            <a:r>
              <a:rPr sz="1725" b="0">
                <a:solidFill>
                  <a:srgbClr val="536178"/>
                </a:solidFill>
                <a:latin typeface="DejaVu Sans"/>
                <a:ea typeface="DejaVu Sans"/>
                <a:cs typeface="DejaVu Sans"/>
              </a:rPr>
              <a:t>Subject and RequirementType use enums. No inheritance hierarchy is planned for the initial version.</a:t>
            </a:r>
          </a:p>
        </p:txBody>
      </p:sp>
    </p:spTree>
    <p:extLst>
      <p:ext uri="{BB962C8B-B14F-4D97-AF65-F5344CB8AC3E}">
        <p14:creationId xmlns:p14="http://schemas.microsoft.com/office/powerpoint/2010/main" val="19944347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40FAEA-0A20-4C2B-BD83-03B43F526B0C}"/>
              </a:ext>
            </a:extLst>
          </p:cNvPr>
          <p:cNvSpPr>
            <a:spLocks xmlns:a="http://schemas.openxmlformats.org/drawingml/2006/main" noGrp="1"/>
          </p:cNvSpPr>
          <p:nvPr/>
        </p:nvSpPr>
        <p:spPr>
          <a:xfrm xmlns:a="http://schemas.openxmlformats.org/drawingml/2006/main">
            <a:off x="609600" y="400050"/>
            <a:ext cx="1402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3633A6"/>
                </a:solidFill>
                <a:latin typeface="DejaVu Sans"/>
                <a:ea typeface="DejaVu Sans"/>
                <a:cs typeface="DejaVu Sans"/>
              </a:defRPr>
            </a:defPPr>
          </a:lstStyle>
          <a:p xmlns:a="http://schemas.openxmlformats.org/drawingml/2006/main">
            <a:pPr algn="l">
              <a:defRPr sz="3450" b="1">
                <a:solidFill>
                  <a:srgbClr val="3633A6"/>
                </a:solidFill>
                <a:latin typeface="DejaVu Sans"/>
                <a:ea typeface="DejaVu Sans"/>
                <a:cs typeface="DejaVu Sans"/>
              </a:defRPr>
            </a:pPr>
            <a:r>
              <a:rPr sz="3450" b="1">
                <a:solidFill>
                  <a:srgbClr val="3633A6"/>
                </a:solidFill>
                <a:latin typeface="DejaVu Sans"/>
                <a:ea typeface="DejaVu Sans"/>
                <a:cs typeface="DejaVu Sans"/>
              </a:rPr>
              <a:t>Requirements Mapped to Classes</a:t>
            </a:r>
          </a:p>
        </p:txBody>
      </p:sp>
      <p:sp>
        <p:nvSpPr>
          <p:cNvPr id="2" name="">
            <a:extLst xmlns:a="http://schemas.openxmlformats.org/drawingml/2006/main">
              <a:ext uri="{FF2B5EF4-FFF2-40B4-BE49-F238E27FC236}">
                <a16:creationId xmlns:a16="http://schemas.microsoft.com/office/drawing/2014/main" id="{C486A58B-6D04-457D-A77D-EA1BF0A11D25}"/>
              </a:ext>
            </a:extLst>
          </p:cNvPr>
          <p:cNvSpPr>
            <a:spLocks xmlns:a="http://schemas.openxmlformats.org/drawingml/2006/main" noGrp="1"/>
          </p:cNvSpPr>
          <p:nvPr/>
        </p:nvSpPr>
        <p:spPr>
          <a:xfrm xmlns:a="http://schemas.openxmlformats.org/drawingml/2006/main">
            <a:off x="609600" y="1143000"/>
            <a:ext cx="1402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536178"/>
                </a:solidFill>
                <a:latin typeface="DejaVu Sans"/>
                <a:ea typeface="DejaVu Sans"/>
                <a:cs typeface="DejaVu Sans"/>
              </a:defRPr>
            </a:defPPr>
          </a:lstStyle>
          <a:p xmlns:a="http://schemas.openxmlformats.org/drawingml/2006/main">
            <a:pPr algn="l">
              <a:defRPr sz="1875" b="0">
                <a:solidFill>
                  <a:srgbClr val="536178"/>
                </a:solidFill>
                <a:latin typeface="DejaVu Sans"/>
                <a:ea typeface="DejaVu Sans"/>
                <a:cs typeface="DejaVu Sans"/>
              </a:defRPr>
            </a:pPr>
            <a:r>
              <a:rPr sz="1875" b="0">
                <a:solidFill>
                  <a:srgbClr val="536178"/>
                </a:solidFill>
                <a:latin typeface="DejaVu Sans"/>
                <a:ea typeface="DejaVu Sans"/>
                <a:cs typeface="DejaVu Sans"/>
              </a:rPr>
              <a:t>Major functions inferred from the supplied UML</a:t>
            </a:r>
          </a:p>
        </p:txBody>
      </p:sp>
      <p:sp>
        <p:nvSpPr>
          <p:cNvPr id="3" name="">
            <a:extLst xmlns:a="http://schemas.openxmlformats.org/drawingml/2006/main">
              <a:ext uri="{FF2B5EF4-FFF2-40B4-BE49-F238E27FC236}">
                <a16:creationId xmlns:a16="http://schemas.microsoft.com/office/drawing/2014/main" id="{DAFB035B-5BA5-4659-9A75-18F4CE592EF0}"/>
              </a:ext>
            </a:extLst>
          </p:cNvPr>
          <p:cNvSpPr>
            <a:spLocks xmlns:a="http://schemas.openxmlformats.org/drawingml/2006/main" noGrp="1"/>
          </p:cNvSpPr>
          <p:nvPr/>
        </p:nvSpPr>
        <p:spPr>
          <a:xfrm xmlns:a="http://schemas.openxmlformats.org/drawingml/2006/main">
            <a:off x="13906500" y="80391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500" b="0">
                <a:solidFill>
                  <a:srgbClr val="536178"/>
                </a:solidFill>
                <a:latin typeface="DejaVu Sans"/>
                <a:ea typeface="DejaVu Sans"/>
                <a:cs typeface="DejaVu Sans"/>
              </a:defRPr>
            </a:defPPr>
          </a:lstStyle>
          <a:p xmlns:a="http://schemas.openxmlformats.org/drawingml/2006/main">
            <a:pPr algn="r">
              <a:defRPr sz="1500" b="0">
                <a:solidFill>
                  <a:srgbClr val="536178"/>
                </a:solidFill>
                <a:latin typeface="DejaVu Sans"/>
                <a:ea typeface="DejaVu Sans"/>
                <a:cs typeface="DejaVu Sans"/>
              </a:defRPr>
            </a:pPr>
            <a:r>
              <a:rPr sz="1500" b="0">
                <a:solidFill>
                  <a:srgbClr val="536178"/>
                </a:solidFill>
                <a:latin typeface="DejaVu Sans"/>
                <a:ea typeface="DejaVu Sans"/>
                <a:cs typeface="DejaVu Sans"/>
              </a:rPr>
              <a:t>04</a:t>
            </a:r>
          </a:p>
        </p:txBody>
      </p:sp>
      <p:graphicFrame>
        <p:nvGraphicFramePr>
          <p:cNvPr id="4" name="">
            <a:extLst xmlns:a="http://schemas.openxmlformats.org/drawingml/2006/main">
              <a:ext uri="{FF2B5EF4-FFF2-40B4-BE49-F238E27FC236}">
                <a16:creationId xmlns:a16="http://schemas.microsoft.com/office/drawing/2014/main" id="{309AF0A9-D7DA-4CE1-B394-FF544B0DE444}"/>
              </a:ext>
            </a:extLst>
          </p:cNvPr>
          <p:cNvGraphicFramePr/>
          <p:nvPr/>
        </p:nvGraphicFramePr>
        <p:xfrm>
          <a:off xmlns:a="http://schemas.openxmlformats.org/drawingml/2006/main" x="609600" y="1962150"/>
          <a:ext xmlns:a="http://schemas.openxmlformats.org/drawingml/2006/main" cx="14020800" cy="5314950"/>
        </p:xfrm>
        <a:graphic xmlns:a="http://schemas.openxmlformats.org/drawingml/2006/main">
          <a:graphicData uri="http://schemas.openxmlformats.org/drawingml/2006/table">
            <a:tbl>
              <a:tblPr/>
              <a:tblGrid>
                <a:gridCol w="5715000"/>
                <a:gridCol w="3143250"/>
                <a:gridCol w="5162550"/>
              </a:tblGrid>
              <a:tr h="609600">
                <a:tc>
                  <a:txBody>
                    <a:bodyPr lIns="152400" tIns="152400" rIns="152400" bIns="152400"/>
                    <a:lstStyle/>
                    <a:p>
                      <a:r>
                        <a:rPr sz="1800" b="1">
                          <a:solidFill>
                            <a:srgbClr val="FFFFFF"/>
                          </a:solidFill>
                          <a:latin typeface="DejaVu Sans"/>
                          <a:ea typeface="DejaVu Sans"/>
                          <a:cs typeface="DejaVu Sans"/>
                        </a:rPr>
                        <a:t>Requirement</a:t>
                      </a:r>
                    </a:p>
                  </a:txBody>
                  <a:tcPr marL="91440" marR="91440" marT="45720" marB="45720" anchor="ctr">
                    <a:lnL w="9525">
                      <a:solidFill>
                        <a:srgbClr val="CCD2E0"/>
                      </a:solidFill>
                      <a:prstDash val="solid"/>
                    </a:lnL>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c>
                  <a:txBody>
                    <a:bodyPr lIns="152400" tIns="152400" rIns="152400" bIns="152400"/>
                    <a:lstStyle/>
                    <a:p>
                      <a:r>
                        <a:rPr sz="1800" b="1">
                          <a:solidFill>
                            <a:srgbClr val="FFFFFF"/>
                          </a:solidFill>
                          <a:latin typeface="DejaVu Sans"/>
                          <a:ea typeface="DejaVu Sans"/>
                          <a:cs typeface="DejaVu Sans"/>
                        </a:rPr>
                        <a:t>Class / component</a:t>
                      </a:r>
                    </a:p>
                  </a:txBody>
                  <a:tcPr marL="91440" marR="91440" marT="45720" marB="45720" anchor="ctr">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c>
                  <a:txBody>
                    <a:bodyPr lIns="152400" tIns="152400" rIns="152400" bIns="152400"/>
                    <a:lstStyle/>
                    <a:p>
                      <a:r>
                        <a:rPr sz="1800" b="1">
                          <a:solidFill>
                            <a:srgbClr val="FFFFFF"/>
                          </a:solidFill>
                          <a:latin typeface="DejaVu Sans"/>
                          <a:ea typeface="DejaVu Sans"/>
                          <a:cs typeface="DejaVu Sans"/>
                        </a:rPr>
                        <a:t>Operation or rule</a:t>
                      </a:r>
                    </a:p>
                  </a:txBody>
                  <a:tcPr marL="91440" marR="91440" marT="45720" marB="45720" anchor="ctr">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r>
              <a:tr h="941070">
                <a:tc>
                  <a:txBody>
                    <a:bodyPr lIns="152400" tIns="152400" rIns="152400" bIns="152400"/>
                    <a:lstStyle/>
                    <a:p>
                      <a:r>
                        <a:rPr sz="1800" b="0">
                          <a:solidFill>
                            <a:srgbClr val="18243B"/>
                          </a:solidFill>
                          <a:latin typeface="DejaVu Sans"/>
                          <a:ea typeface="DejaVu Sans"/>
                          <a:cs typeface="DejaVu Sans"/>
                        </a:rPr>
                        <a:t>Store courses and their prerequisites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00" b="0">
                          <a:solidFill>
                            <a:srgbClr val="18243B"/>
                          </a:solidFill>
                          <a:latin typeface="DejaVu Sans"/>
                          <a:ea typeface="DejaVu Sans"/>
                          <a:cs typeface="DejaVu Sans"/>
                        </a:rPr>
                        <a:t>Course, Subject</a:t>
                      </a:r>
                    </a:p>
                  </a:txBody>
                  <a:tcPr marL="91440" marR="91440" marT="45720" marB="45720" anchor="ctr">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00" b="0">
                          <a:solidFill>
                            <a:srgbClr val="18243B"/>
                          </a:solidFill>
                          <a:latin typeface="DejaVu Sans"/>
                          <a:ea typeface="DejaVu Sans"/>
                          <a:cs typeface="DejaVu Sans"/>
                        </a:rPr>
                        <a:t>Catalog fields and prerequisitesMet()</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941070">
                <a:tc>
                  <a:txBody>
                    <a:bodyPr lIns="152400" tIns="152400" rIns="152400" bIns="152400"/>
                    <a:lstStyle/>
                    <a:p>
                      <a:r>
                        <a:rPr sz="1800" b="0">
                          <a:solidFill>
                            <a:srgbClr val="18243B"/>
                          </a:solidFill>
                          <a:latin typeface="DejaVu Sans"/>
                          <a:ea typeface="DejaVu Sans"/>
                          <a:cs typeface="DejaVu Sans"/>
                        </a:rPr>
                        <a:t>Record academic progress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00" b="0">
                          <a:solidFill>
                            <a:srgbClr val="18243B"/>
                          </a:solidFill>
                          <a:latin typeface="DejaVu Sans"/>
                          <a:ea typeface="DejaVu Sans"/>
                          <a:cs typeface="DejaVu Sans"/>
                        </a:rPr>
                        <a:t>Student</a:t>
                      </a:r>
                    </a:p>
                  </a:txBody>
                  <a:tcPr marL="91440" marR="91440" marT="45720" marB="45720" anchor="ctr">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00" b="0">
                          <a:solidFill>
                            <a:srgbClr val="18243B"/>
                          </a:solidFill>
                          <a:latin typeface="DejaVu Sans"/>
                          <a:ea typeface="DejaVu Sans"/>
                          <a:cs typeface="DejaVu Sans"/>
                        </a:rPr>
                        <a:t>completeCourse(), completeExtra()</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r h="941070">
                <a:tc>
                  <a:txBody>
                    <a:bodyPr lIns="152400" tIns="152400" rIns="152400" bIns="152400"/>
                    <a:lstStyle/>
                    <a:p>
                      <a:r>
                        <a:rPr sz="1800" b="0">
                          <a:solidFill>
                            <a:srgbClr val="18243B"/>
                          </a:solidFill>
                          <a:latin typeface="DejaVu Sans"/>
                          <a:ea typeface="DejaVu Sans"/>
                          <a:cs typeface="DejaVu Sans"/>
                        </a:rPr>
                        <a:t>Check required courses and extra completions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00" b="0">
                          <a:solidFill>
                            <a:srgbClr val="18243B"/>
                          </a:solidFill>
                          <a:latin typeface="DejaVu Sans"/>
                          <a:ea typeface="DejaVu Sans"/>
                          <a:cs typeface="DejaVu Sans"/>
                        </a:rPr>
                        <a:t>Requirement</a:t>
                      </a:r>
                    </a:p>
                  </a:txBody>
                  <a:tcPr marL="91440" marR="91440" marT="45720" marB="45720" anchor="ctr">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00" b="0">
                          <a:solidFill>
                            <a:srgbClr val="18243B"/>
                          </a:solidFill>
                          <a:latin typeface="DejaVu Sans"/>
                          <a:ea typeface="DejaVu Sans"/>
                          <a:cs typeface="DejaVu Sans"/>
                        </a:rPr>
                        <a:t>isSatisfiedBy(student)</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941070">
                <a:tc>
                  <a:txBody>
                    <a:bodyPr lIns="152400" tIns="152400" rIns="152400" bIns="152400"/>
                    <a:lstStyle/>
                    <a:p>
                      <a:r>
                        <a:rPr sz="1800" b="0">
                          <a:solidFill>
                            <a:srgbClr val="18243B"/>
                          </a:solidFill>
                          <a:latin typeface="DejaVu Sans"/>
                          <a:ea typeface="DejaVu Sans"/>
                          <a:cs typeface="DejaVu Sans"/>
                        </a:rPr>
                        <a:t>Check overall curriculum completion</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00" b="0">
                          <a:solidFill>
                            <a:srgbClr val="18243B"/>
                          </a:solidFill>
                          <a:latin typeface="DejaVu Sans"/>
                          <a:ea typeface="DejaVu Sans"/>
                          <a:cs typeface="DejaVu Sans"/>
                        </a:rPr>
                        <a:t>Curriculum</a:t>
                      </a:r>
                    </a:p>
                  </a:txBody>
                  <a:tcPr marL="91440" marR="91440" marT="45720" marB="45720" anchor="ctr">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00" b="0">
                          <a:solidFill>
                            <a:srgbClr val="18243B"/>
                          </a:solidFill>
                          <a:latin typeface="DejaVu Sans"/>
                          <a:ea typeface="DejaVu Sans"/>
                          <a:cs typeface="DejaVu Sans"/>
                        </a:rPr>
                        <a:t>checkStudent(student) evaluates every rule</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r h="941070">
                <a:tc>
                  <a:txBody>
                    <a:bodyPr lIns="152400" tIns="152400" rIns="152400" bIns="152400"/>
                    <a:lstStyle/>
                    <a:p>
                      <a:r>
                        <a:rPr sz="1800" b="0">
                          <a:solidFill>
                            <a:srgbClr val="18243B"/>
                          </a:solidFill>
                          <a:latin typeface="DejaVu Sans"/>
                          <a:ea typeface="DejaVu Sans"/>
                          <a:cs typeface="DejaVu Sans"/>
                        </a:rPr>
                        <a:t>Suggest remaining eligible courses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00" b="0">
                          <a:solidFill>
                            <a:srgbClr val="18243B"/>
                          </a:solidFill>
                          <a:latin typeface="DejaVu Sans"/>
                          <a:ea typeface="DejaVu Sans"/>
                          <a:cs typeface="DejaVu Sans"/>
                        </a:rPr>
                        <a:t>Curriculum, Course</a:t>
                      </a:r>
                    </a:p>
                  </a:txBody>
                  <a:tcPr marL="91440" marR="91440" marT="45720" marB="45720" anchor="ctr">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00" b="0">
                          <a:solidFill>
                            <a:srgbClr val="18243B"/>
                          </a:solidFill>
                          <a:latin typeface="DejaVu Sans"/>
                          <a:ea typeface="DejaVu Sans"/>
                          <a:cs typeface="DejaVu Sans"/>
                        </a:rPr>
                        <a:t>makePlan(student) uses prerequisite checks</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7D5A0D-7002-4D12-944B-E7BAE84B1316}"/>
              </a:ext>
            </a:extLst>
          </p:cNvPr>
          <p:cNvSpPr>
            <a:spLocks xmlns:a="http://schemas.openxmlformats.org/drawingml/2006/main" noGrp="1"/>
          </p:cNvSpPr>
          <p:nvPr/>
        </p:nvSpPr>
        <p:spPr>
          <a:xfrm xmlns:a="http://schemas.openxmlformats.org/drawingml/2006/main">
            <a:off x="609600" y="7524750"/>
            <a:ext cx="1362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36178"/>
                </a:solidFill>
                <a:latin typeface="DejaVu Sans"/>
                <a:ea typeface="DejaVu Sans"/>
                <a:cs typeface="DejaVu Sans"/>
              </a:defRPr>
            </a:defPPr>
          </a:lstStyle>
          <a:p xmlns:a="http://schemas.openxmlformats.org/drawingml/2006/main">
            <a:pPr algn="l">
              <a:defRPr sz="1725" b="0">
                <a:solidFill>
                  <a:srgbClr val="536178"/>
                </a:solidFill>
                <a:latin typeface="DejaVu Sans"/>
                <a:ea typeface="DejaVu Sans"/>
                <a:cs typeface="DejaVu Sans"/>
              </a:defRPr>
            </a:pPr>
            <a:r>
              <a:rPr sz="1725" b="0">
                <a:solidFill>
                  <a:srgbClr val="536178"/>
                </a:solidFill>
                <a:latin typeface="DejaVu Sans"/>
                <a:ea typeface="DejaVu Sans"/>
                <a:cs typeface="DejaVu Sans"/>
              </a:rPr>
              <a:t>Planning scope: an ordered list of remaining courses. Semester scheduling remains an open question.</a:t>
            </a:r>
          </a:p>
        </p:txBody>
      </p:sp>
    </p:spTree>
    <p:extLst>
      <p:ext uri="{BB962C8B-B14F-4D97-AF65-F5344CB8AC3E}">
        <p14:creationId xmlns:p14="http://schemas.microsoft.com/office/powerpoint/2010/main" val="13611216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4ED9BF-26B1-4624-A3E7-4943C720A91E}"/>
              </a:ext>
            </a:extLst>
          </p:cNvPr>
          <p:cNvSpPr>
            <a:spLocks xmlns:a="http://schemas.openxmlformats.org/drawingml/2006/main" noGrp="1"/>
          </p:cNvSpPr>
          <p:nvPr/>
        </p:nvSpPr>
        <p:spPr>
          <a:xfrm xmlns:a="http://schemas.openxmlformats.org/drawingml/2006/main">
            <a:off x="609600" y="400050"/>
            <a:ext cx="1402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3633A6"/>
                </a:solidFill>
                <a:latin typeface="DejaVu Sans"/>
                <a:ea typeface="DejaVu Sans"/>
                <a:cs typeface="DejaVu Sans"/>
              </a:defRPr>
            </a:defPPr>
          </a:lstStyle>
          <a:p xmlns:a="http://schemas.openxmlformats.org/drawingml/2006/main">
            <a:pPr algn="l">
              <a:defRPr sz="3450" b="1">
                <a:solidFill>
                  <a:srgbClr val="3633A6"/>
                </a:solidFill>
                <a:latin typeface="DejaVu Sans"/>
                <a:ea typeface="DejaVu Sans"/>
                <a:cs typeface="DejaVu Sans"/>
              </a:defRPr>
            </a:pPr>
            <a:r>
              <a:rPr sz="3450" b="1">
                <a:solidFill>
                  <a:srgbClr val="3633A6"/>
                </a:solidFill>
                <a:latin typeface="DejaVu Sans"/>
                <a:ea typeface="DejaVu Sans"/>
                <a:cs typeface="DejaVu Sans"/>
              </a:rPr>
              <a:t>Planned Repository Structure</a:t>
            </a:r>
          </a:p>
        </p:txBody>
      </p:sp>
      <p:sp>
        <p:nvSpPr>
          <p:cNvPr id="2" name="">
            <a:extLst xmlns:a="http://schemas.openxmlformats.org/drawingml/2006/main">
              <a:ext uri="{FF2B5EF4-FFF2-40B4-BE49-F238E27FC236}">
                <a16:creationId xmlns:a16="http://schemas.microsoft.com/office/drawing/2014/main" id="{E047B778-7D9F-4588-99C5-CDA9A596341D}"/>
              </a:ext>
            </a:extLst>
          </p:cNvPr>
          <p:cNvSpPr>
            <a:spLocks xmlns:a="http://schemas.openxmlformats.org/drawingml/2006/main" noGrp="1"/>
          </p:cNvSpPr>
          <p:nvPr/>
        </p:nvSpPr>
        <p:spPr>
          <a:xfrm xmlns:a="http://schemas.openxmlformats.org/drawingml/2006/main">
            <a:off x="609600" y="1143000"/>
            <a:ext cx="1402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536178"/>
                </a:solidFill>
                <a:latin typeface="DejaVu Sans"/>
                <a:ea typeface="DejaVu Sans"/>
                <a:cs typeface="DejaVu Sans"/>
              </a:defRPr>
            </a:defPPr>
          </a:lstStyle>
          <a:p xmlns:a="http://schemas.openxmlformats.org/drawingml/2006/main">
            <a:pPr algn="l">
              <a:defRPr sz="1875" b="0">
                <a:solidFill>
                  <a:srgbClr val="536178"/>
                </a:solidFill>
                <a:latin typeface="DejaVu Sans"/>
                <a:ea typeface="DejaVu Sans"/>
                <a:cs typeface="DejaVu Sans"/>
              </a:defRPr>
            </a:pPr>
            <a:r>
              <a:rPr sz="1875" b="0">
                <a:solidFill>
                  <a:srgbClr val="536178"/>
                </a:solidFill>
                <a:latin typeface="DejaVu Sans"/>
                <a:ea typeface="DejaVu Sans"/>
                <a:cs typeface="DejaVu Sans"/>
              </a:rPr>
              <a:t>Logical organization. File extensions and build configuration depend on the implementation language.</a:t>
            </a:r>
          </a:p>
        </p:txBody>
      </p:sp>
      <p:sp>
        <p:nvSpPr>
          <p:cNvPr id="3" name="">
            <a:extLst xmlns:a="http://schemas.openxmlformats.org/drawingml/2006/main">
              <a:ext uri="{FF2B5EF4-FFF2-40B4-BE49-F238E27FC236}">
                <a16:creationId xmlns:a16="http://schemas.microsoft.com/office/drawing/2014/main" id="{A91909EB-84EB-4CD0-9631-FEAAFE186D89}"/>
              </a:ext>
            </a:extLst>
          </p:cNvPr>
          <p:cNvSpPr>
            <a:spLocks xmlns:a="http://schemas.openxmlformats.org/drawingml/2006/main" noGrp="1"/>
          </p:cNvSpPr>
          <p:nvPr/>
        </p:nvSpPr>
        <p:spPr>
          <a:xfrm xmlns:a="http://schemas.openxmlformats.org/drawingml/2006/main">
            <a:off x="13906500" y="80391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500" b="0">
                <a:solidFill>
                  <a:srgbClr val="536178"/>
                </a:solidFill>
                <a:latin typeface="DejaVu Sans"/>
                <a:ea typeface="DejaVu Sans"/>
                <a:cs typeface="DejaVu Sans"/>
              </a:defRPr>
            </a:defPPr>
          </a:lstStyle>
          <a:p xmlns:a="http://schemas.openxmlformats.org/drawingml/2006/main">
            <a:pPr algn="r">
              <a:defRPr sz="1500" b="0">
                <a:solidFill>
                  <a:srgbClr val="536178"/>
                </a:solidFill>
                <a:latin typeface="DejaVu Sans"/>
                <a:ea typeface="DejaVu Sans"/>
                <a:cs typeface="DejaVu Sans"/>
              </a:defRPr>
            </a:pPr>
            <a:r>
              <a:rPr sz="1500" b="0">
                <a:solidFill>
                  <a:srgbClr val="536178"/>
                </a:solidFill>
                <a:latin typeface="DejaVu Sans"/>
                <a:ea typeface="DejaVu Sans"/>
                <a:cs typeface="DejaVu Sans"/>
              </a:rPr>
              <a:t>05</a:t>
            </a:r>
          </a:p>
        </p:txBody>
      </p:sp>
      <p:graphicFrame>
        <p:nvGraphicFramePr>
          <p:cNvPr id="4" name="">
            <a:extLst xmlns:a="http://schemas.openxmlformats.org/drawingml/2006/main">
              <a:ext uri="{FF2B5EF4-FFF2-40B4-BE49-F238E27FC236}">
                <a16:creationId xmlns:a16="http://schemas.microsoft.com/office/drawing/2014/main" id="{51754127-46EE-45B6-A010-298B9A53FCEC}"/>
              </a:ext>
            </a:extLst>
          </p:cNvPr>
          <p:cNvGraphicFramePr/>
          <p:nvPr/>
        </p:nvGraphicFramePr>
        <p:xfrm>
          <a:off xmlns:a="http://schemas.openxmlformats.org/drawingml/2006/main" x="609600" y="1962150"/>
          <a:ext xmlns:a="http://schemas.openxmlformats.org/drawingml/2006/main" cx="14020800" cy="5314950"/>
        </p:xfrm>
        <a:graphic xmlns:a="http://schemas.openxmlformats.org/drawingml/2006/main">
          <a:graphicData uri="http://schemas.openxmlformats.org/drawingml/2006/table">
            <a:tbl>
              <a:tblPr/>
              <a:tblGrid>
                <a:gridCol w="3714750"/>
                <a:gridCol w="10306050"/>
              </a:tblGrid>
              <a:tr h="609600">
                <a:tc>
                  <a:txBody>
                    <a:bodyPr lIns="152400" tIns="152400" rIns="152400" bIns="152400"/>
                    <a:lstStyle/>
                    <a:p>
                      <a:r>
                        <a:rPr sz="1875" b="1">
                          <a:solidFill>
                            <a:srgbClr val="FFFFFF"/>
                          </a:solidFill>
                          <a:latin typeface="DejaVu Sans"/>
                          <a:ea typeface="DejaVu Sans"/>
                          <a:cs typeface="DejaVu Sans"/>
                        </a:rPr>
                        <a:t>Path</a:t>
                      </a:r>
                    </a:p>
                  </a:txBody>
                  <a:tcPr marL="91440" marR="91440" marT="45720" marB="45720" anchor="ctr">
                    <a:lnL w="9525">
                      <a:solidFill>
                        <a:srgbClr val="CCD2E0"/>
                      </a:solidFill>
                      <a:prstDash val="solid"/>
                    </a:lnL>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c>
                  <a:txBody>
                    <a:bodyPr lIns="152400" tIns="152400" rIns="152400" bIns="152400"/>
                    <a:lstStyle/>
                    <a:p>
                      <a:r>
                        <a:rPr sz="1875" b="1">
                          <a:solidFill>
                            <a:srgbClr val="FFFFFF"/>
                          </a:solidFill>
                          <a:latin typeface="DejaVu Sans"/>
                          <a:ea typeface="DejaVu Sans"/>
                          <a:cs typeface="DejaVu Sans"/>
                        </a:rPr>
                        <a:t>Planned contents</a:t>
                      </a:r>
                    </a:p>
                  </a:txBody>
                  <a:tcPr marL="91440" marR="91440" marT="45720" marB="45720" anchor="ctr">
                    <a:lnR w="9525">
                      <a:solidFill>
                        <a:srgbClr val="CCD2E0"/>
                      </a:solidFill>
                      <a:prstDash val="solid"/>
                    </a:lnR>
                    <a:lnT w="9525">
                      <a:solidFill>
                        <a:srgbClr val="CCD2E0"/>
                      </a:solidFill>
                      <a:prstDash val="solid"/>
                    </a:lnT>
                    <a:lnB w="9525">
                      <a:solidFill>
                        <a:srgbClr val="CCD2E0"/>
                      </a:solidFill>
                      <a:prstDash val="solid"/>
                    </a:lnB>
                    <a:solidFill>
                      <a:srgbClr val="3633A6"/>
                    </a:solidFill>
                  </a:tcPr>
                </a:tc>
              </a:tr>
              <a:tr h="784225">
                <a:tc>
                  <a:txBody>
                    <a:bodyPr lIns="152400" tIns="152400" rIns="152400" bIns="152400"/>
                    <a:lstStyle/>
                    <a:p>
                      <a:r>
                        <a:rPr sz="1875" b="0">
                          <a:solidFill>
                            <a:srgbClr val="18243B"/>
                          </a:solidFill>
                          <a:latin typeface="DejaVu Sans"/>
                          <a:ea typeface="DejaVu Sans"/>
                          <a:cs typeface="DejaVu Sans"/>
                        </a:rPr>
                        <a:t>src/models/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Course, Student, Requirement, Curriculum, Subject, RequirementType</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784225">
                <a:tc>
                  <a:txBody>
                    <a:bodyPr lIns="152400" tIns="152400" rIns="152400" bIns="152400"/>
                    <a:lstStyle/>
                    <a:p>
                      <a:r>
                        <a:rPr sz="1875" b="0">
                          <a:solidFill>
                            <a:srgbClr val="18243B"/>
                          </a:solidFill>
                          <a:latin typeface="DejaVu Sans"/>
                          <a:ea typeface="DejaVu Sans"/>
                          <a:cs typeface="DejaVu Sans"/>
                        </a:rPr>
                        <a:t>src/ui/</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User input and progress / plan output</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r h="784225">
                <a:tc>
                  <a:txBody>
                    <a:bodyPr lIns="152400" tIns="152400" rIns="152400" bIns="152400"/>
                    <a:lstStyle/>
                    <a:p>
                      <a:r>
                        <a:rPr sz="1875" b="0">
                          <a:solidFill>
                            <a:srgbClr val="18243B"/>
                          </a:solidFill>
                          <a:latin typeface="DejaVu Sans"/>
                          <a:ea typeface="DejaVu Sans"/>
                          <a:cs typeface="DejaVu Sans"/>
                        </a:rPr>
                        <a:t>data/</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Course catalog and curriculum definitions</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784225">
                <a:tc>
                  <a:txBody>
                    <a:bodyPr lIns="152400" tIns="152400" rIns="152400" bIns="152400"/>
                    <a:lstStyle/>
                    <a:p>
                      <a:r>
                        <a:rPr sz="1875" b="0">
                          <a:solidFill>
                            <a:srgbClr val="18243B"/>
                          </a:solidFill>
                          <a:latin typeface="DejaVu Sans"/>
                          <a:ea typeface="DejaVu Sans"/>
                          <a:cs typeface="DejaVu Sans"/>
                        </a:rPr>
                        <a:t>tests/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Requirement rules and prerequisite / planning behavior</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r h="784225">
                <a:tc>
                  <a:txBody>
                    <a:bodyPr lIns="152400" tIns="152400" rIns="152400" bIns="152400"/>
                    <a:lstStyle/>
                    <a:p>
                      <a:r>
                        <a:rPr sz="1875" b="0">
                          <a:solidFill>
                            <a:srgbClr val="18243B"/>
                          </a:solidFill>
                          <a:latin typeface="DejaVu Sans"/>
                          <a:ea typeface="DejaVu Sans"/>
                          <a:cs typeface="DejaVu Sans"/>
                        </a:rPr>
                        <a:t>docs/</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FFFFFF"/>
                    </a:solidFill>
                  </a:tcPr>
                </a:tc>
                <a:tc>
                  <a:txBody>
                    <a:bodyPr lIns="152400" tIns="152400" rIns="152400" bIns="152400"/>
                    <a:lstStyle/>
                    <a:p>
                      <a:r>
                        <a:rPr sz="1875" b="0">
                          <a:solidFill>
                            <a:srgbClr val="18243B"/>
                          </a:solidFill>
                          <a:latin typeface="DejaVu Sans"/>
                          <a:ea typeface="DejaVu Sans"/>
                          <a:cs typeface="DejaVu Sans"/>
                        </a:rPr>
                        <a:t>UML diagram and design decisions</a:t>
                      </a:r>
                    </a:p>
                  </a:txBody>
                  <a:tcPr marL="91440" marR="91440" marT="45720" marB="45720" anchor="ctr">
                    <a:lnR w="9525">
                      <a:solidFill>
                        <a:srgbClr val="CCD2E0"/>
                      </a:solidFill>
                      <a:prstDash val="solid"/>
                    </a:lnR>
                    <a:lnB w="9525">
                      <a:solidFill>
                        <a:srgbClr val="CCD2E0"/>
                      </a:solidFill>
                      <a:prstDash val="solid"/>
                    </a:lnB>
                    <a:solidFill>
                      <a:srgbClr val="FFFFFF"/>
                    </a:solidFill>
                  </a:tcPr>
                </a:tc>
              </a:tr>
              <a:tr h="784225">
                <a:tc>
                  <a:txBody>
                    <a:bodyPr lIns="152400" tIns="152400" rIns="152400" bIns="152400"/>
                    <a:lstStyle/>
                    <a:p>
                      <a:r>
                        <a:rPr sz="1875" b="0">
                          <a:solidFill>
                            <a:srgbClr val="18243B"/>
                          </a:solidFill>
                          <a:latin typeface="DejaVu Sans"/>
                          <a:ea typeface="DejaVu Sans"/>
                          <a:cs typeface="DejaVu Sans"/>
                        </a:rPr>
                        <a:t>README.md</a:t>
                      </a:r>
                    </a:p>
                  </a:txBody>
                  <a:tcPr marL="91440" marR="91440" marT="45720" marB="45720" anchor="ctr">
                    <a:lnL w="9525">
                      <a:solidFill>
                        <a:srgbClr val="CCD2E0"/>
                      </a:solidFill>
                      <a:prstDash val="solid"/>
                    </a:lnL>
                    <a:lnR w="9525">
                      <a:solidFill>
                        <a:srgbClr val="CCD2E0"/>
                      </a:solidFill>
                      <a:prstDash val="solid"/>
                    </a:lnR>
                    <a:lnB w="9525">
                      <a:solidFill>
                        <a:srgbClr val="CCD2E0"/>
                      </a:solidFill>
                      <a:prstDash val="solid"/>
                    </a:lnB>
                    <a:solidFill>
                      <a:srgbClr val="EEF0F8"/>
                    </a:solidFill>
                  </a:tcPr>
                </a:tc>
                <a:tc>
                  <a:txBody>
                    <a:bodyPr lIns="152400" tIns="152400" rIns="152400" bIns="152400"/>
                    <a:lstStyle/>
                    <a:p>
                      <a:r>
                        <a:rPr sz="1875" b="0">
                          <a:solidFill>
                            <a:srgbClr val="18243B"/>
                          </a:solidFill>
                          <a:latin typeface="DejaVu Sans"/>
                          <a:ea typeface="DejaVu Sans"/>
                          <a:cs typeface="DejaVu Sans"/>
                        </a:rPr>
                        <a:t>Project purpose, setup instructions, and usage examples</a:t>
                      </a:r>
                    </a:p>
                  </a:txBody>
                  <a:tcPr marL="91440" marR="91440" marT="45720" marB="45720" anchor="ctr">
                    <a:lnR w="9525">
                      <a:solidFill>
                        <a:srgbClr val="CCD2E0"/>
                      </a:solidFill>
                      <a:prstDash val="solid"/>
                    </a:lnR>
                    <a:lnB w="9525">
                      <a:solidFill>
                        <a:srgbClr val="CCD2E0"/>
                      </a:solidFill>
                      <a:prstDash val="solid"/>
                    </a:lnB>
                    <a:solidFill>
                      <a:srgbClr val="EEF0F8"/>
                    </a:solidFill>
                  </a:tcPr>
                </a:tc>
              </a:tr>
            </a:tbl>
          </a:graphicData>
        </a:graphic>
      </p:graphicFrame>
      <p:sp>
        <p:nvSpPr>
          <p:cNvPr id="5" name="">
            <a:extLst xmlns:a="http://schemas.openxmlformats.org/drawingml/2006/main">
              <a:ext uri="{FF2B5EF4-FFF2-40B4-BE49-F238E27FC236}">
                <a16:creationId xmlns:a16="http://schemas.microsoft.com/office/drawing/2014/main" id="{CFB6B119-B049-447F-BD61-4224D5BC4787}"/>
              </a:ext>
            </a:extLst>
          </p:cNvPr>
          <p:cNvSpPr>
            <a:spLocks xmlns:a="http://schemas.openxmlformats.org/drawingml/2006/main" noGrp="1"/>
          </p:cNvSpPr>
          <p:nvPr/>
        </p:nvSpPr>
        <p:spPr>
          <a:xfrm xmlns:a="http://schemas.openxmlformats.org/drawingml/2006/main">
            <a:off x="609600" y="7524750"/>
            <a:ext cx="1362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0">
                <a:solidFill>
                  <a:srgbClr val="536178"/>
                </a:solidFill>
                <a:latin typeface="DejaVu Sans"/>
                <a:ea typeface="DejaVu Sans"/>
                <a:cs typeface="DejaVu Sans"/>
              </a:defRPr>
            </a:defPPr>
          </a:lstStyle>
          <a:p xmlns:a="http://schemas.openxmlformats.org/drawingml/2006/main">
            <a:pPr algn="l">
              <a:defRPr sz="1725" b="0">
                <a:solidFill>
                  <a:srgbClr val="536178"/>
                </a:solidFill>
                <a:latin typeface="DejaVu Sans"/>
                <a:ea typeface="DejaVu Sans"/>
                <a:cs typeface="DejaVu Sans"/>
              </a:defRPr>
            </a:pPr>
            <a:r>
              <a:rPr sz="1725" b="0">
                <a:solidFill>
                  <a:srgbClr val="536178"/>
                </a:solidFill>
                <a:latin typeface="DejaVu Sans"/>
                <a:ea typeface="DejaVu Sans"/>
                <a:cs typeface="DejaVu Sans"/>
              </a:rPr>
              <a:t>Keep input/output separate from domain rules so rules can be tested directly.</a:t>
            </a:r>
          </a:p>
        </p:txBody>
      </p:sp>
    </p:spTree>
    <p:extLst>
      <p:ext uri="{BB962C8B-B14F-4D97-AF65-F5344CB8AC3E}">
        <p14:creationId xmlns:p14="http://schemas.microsoft.com/office/powerpoint/2010/main" val="20674303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2593BC-8895-4CC3-BE9F-E9FD23EDE50D}"/>
              </a:ext>
            </a:extLst>
          </p:cNvPr>
          <p:cNvSpPr>
            <a:spLocks xmlns:a="http://schemas.openxmlformats.org/drawingml/2006/main" noGrp="1"/>
          </p:cNvSpPr>
          <p:nvPr/>
        </p:nvSpPr>
        <p:spPr>
          <a:xfrm xmlns:a="http://schemas.openxmlformats.org/drawingml/2006/main">
            <a:off x="609600" y="400050"/>
            <a:ext cx="1402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450" b="1">
                <a:solidFill>
                  <a:srgbClr val="3633A6"/>
                </a:solidFill>
                <a:latin typeface="DejaVu Sans"/>
                <a:ea typeface="DejaVu Sans"/>
                <a:cs typeface="DejaVu Sans"/>
              </a:defRPr>
            </a:defPPr>
          </a:lstStyle>
          <a:p xmlns:a="http://schemas.openxmlformats.org/drawingml/2006/main">
            <a:pPr algn="l">
              <a:defRPr sz="3450" b="1">
                <a:solidFill>
                  <a:srgbClr val="3633A6"/>
                </a:solidFill>
                <a:latin typeface="DejaVu Sans"/>
                <a:ea typeface="DejaVu Sans"/>
                <a:cs typeface="DejaVu Sans"/>
              </a:defRPr>
            </a:pPr>
            <a:r>
              <a:rPr sz="3450" b="1">
                <a:solidFill>
                  <a:srgbClr val="3633A6"/>
                </a:solidFill>
                <a:latin typeface="DejaVu Sans"/>
                <a:ea typeface="DejaVu Sans"/>
                <a:cs typeface="DejaVu Sans"/>
              </a:rPr>
              <a:t>Assumptions and Open Design Questions</a:t>
            </a:r>
          </a:p>
        </p:txBody>
      </p:sp>
      <p:sp>
        <p:nvSpPr>
          <p:cNvPr id="2" name="">
            <a:extLst xmlns:a="http://schemas.openxmlformats.org/drawingml/2006/main">
              <a:ext uri="{FF2B5EF4-FFF2-40B4-BE49-F238E27FC236}">
                <a16:creationId xmlns:a16="http://schemas.microsoft.com/office/drawing/2014/main" id="{4CCDA432-8EDA-4F94-A191-C54FC504C473}"/>
              </a:ext>
            </a:extLst>
          </p:cNvPr>
          <p:cNvSpPr>
            <a:spLocks xmlns:a="http://schemas.openxmlformats.org/drawingml/2006/main" noGrp="1"/>
          </p:cNvSpPr>
          <p:nvPr/>
        </p:nvSpPr>
        <p:spPr>
          <a:xfrm xmlns:a="http://schemas.openxmlformats.org/drawingml/2006/main">
            <a:off x="609600" y="1143000"/>
            <a:ext cx="1402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536178"/>
                </a:solidFill>
                <a:latin typeface="DejaVu Sans"/>
                <a:ea typeface="DejaVu Sans"/>
                <a:cs typeface="DejaVu Sans"/>
              </a:defRPr>
            </a:defPPr>
          </a:lstStyle>
          <a:p xmlns:a="http://schemas.openxmlformats.org/drawingml/2006/main">
            <a:pPr algn="l">
              <a:defRPr sz="1875" b="0">
                <a:solidFill>
                  <a:srgbClr val="536178"/>
                </a:solidFill>
                <a:latin typeface="DejaVu Sans"/>
                <a:ea typeface="DejaVu Sans"/>
                <a:cs typeface="DejaVu Sans"/>
              </a:defRPr>
            </a:pPr>
            <a:r>
              <a:rPr sz="1875" b="0">
                <a:solidFill>
                  <a:srgbClr val="536178"/>
                </a:solidFill>
                <a:latin typeface="DejaVu Sans"/>
                <a:ea typeface="DejaVu Sans"/>
                <a:cs typeface="DejaVu Sans"/>
              </a:rPr>
              <a:t>Initial assumptions make the proposed rules explicit.</a:t>
            </a:r>
          </a:p>
        </p:txBody>
      </p:sp>
      <p:sp>
        <p:nvSpPr>
          <p:cNvPr id="3" name="">
            <a:extLst xmlns:a="http://schemas.openxmlformats.org/drawingml/2006/main">
              <a:ext uri="{FF2B5EF4-FFF2-40B4-BE49-F238E27FC236}">
                <a16:creationId xmlns:a16="http://schemas.microsoft.com/office/drawing/2014/main" id="{8F54172F-B4EB-41BE-8499-C834EA61A942}"/>
              </a:ext>
            </a:extLst>
          </p:cNvPr>
          <p:cNvSpPr>
            <a:spLocks xmlns:a="http://schemas.openxmlformats.org/drawingml/2006/main" noGrp="1"/>
          </p:cNvSpPr>
          <p:nvPr/>
        </p:nvSpPr>
        <p:spPr>
          <a:xfrm xmlns:a="http://schemas.openxmlformats.org/drawingml/2006/main">
            <a:off x="13906500" y="8039100"/>
            <a:ext cx="723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500" b="0">
                <a:solidFill>
                  <a:srgbClr val="536178"/>
                </a:solidFill>
                <a:latin typeface="DejaVu Sans"/>
                <a:ea typeface="DejaVu Sans"/>
                <a:cs typeface="DejaVu Sans"/>
              </a:defRPr>
            </a:defPPr>
          </a:lstStyle>
          <a:p xmlns:a="http://schemas.openxmlformats.org/drawingml/2006/main">
            <a:pPr algn="r">
              <a:defRPr sz="1500" b="0">
                <a:solidFill>
                  <a:srgbClr val="536178"/>
                </a:solidFill>
                <a:latin typeface="DejaVu Sans"/>
                <a:ea typeface="DejaVu Sans"/>
                <a:cs typeface="DejaVu Sans"/>
              </a:defRPr>
            </a:pPr>
            <a:r>
              <a:rPr sz="1500" b="0">
                <a:solidFill>
                  <a:srgbClr val="536178"/>
                </a:solidFill>
                <a:latin typeface="DejaVu Sans"/>
                <a:ea typeface="DejaVu Sans"/>
                <a:cs typeface="DejaVu Sans"/>
              </a:rPr>
              <a:t>06</a:t>
            </a:r>
          </a:p>
        </p:txBody>
      </p:sp>
      <p:sp>
        <p:nvSpPr>
          <p:cNvPr id="4" name="">
            <a:extLst xmlns:a="http://schemas.openxmlformats.org/drawingml/2006/main">
              <a:ext uri="{FF2B5EF4-FFF2-40B4-BE49-F238E27FC236}">
                <a16:creationId xmlns:a16="http://schemas.microsoft.com/office/drawing/2014/main" id="{AD9AFE23-62EC-403E-A593-327CE02A2251}"/>
              </a:ext>
            </a:extLst>
          </p:cNvPr>
          <p:cNvSpPr>
            <a:spLocks xmlns:a="http://schemas.openxmlformats.org/drawingml/2006/main" noGrp="1"/>
          </p:cNvSpPr>
          <p:nvPr/>
        </p:nvSpPr>
        <p:spPr>
          <a:xfrm xmlns:a="http://schemas.openxmlformats.org/drawingml/2006/main">
            <a:off x="609600" y="19812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3633A6"/>
                </a:solidFill>
                <a:latin typeface="DejaVu Sans"/>
                <a:ea typeface="DejaVu Sans"/>
                <a:cs typeface="DejaVu Sans"/>
              </a:defRPr>
            </a:defPPr>
          </a:lstStyle>
          <a:p xmlns:a="http://schemas.openxmlformats.org/drawingml/2006/main">
            <a:pPr algn="l">
              <a:defRPr sz="2400" b="1">
                <a:solidFill>
                  <a:srgbClr val="3633A6"/>
                </a:solidFill>
                <a:latin typeface="DejaVu Sans"/>
                <a:ea typeface="DejaVu Sans"/>
                <a:cs typeface="DejaVu Sans"/>
              </a:defRPr>
            </a:pPr>
            <a:r>
              <a:rPr sz="2400" b="1">
                <a:solidFill>
                  <a:srgbClr val="3633A6"/>
                </a:solidFill>
                <a:latin typeface="DejaVu Sans"/>
                <a:ea typeface="DejaVu Sans"/>
                <a:cs typeface="DejaVu Sans"/>
              </a:rPr>
              <a:t>Assumptions</a:t>
            </a:r>
          </a:p>
        </p:txBody>
      </p:sp>
      <p:sp>
        <p:nvSpPr>
          <p:cNvPr id="5" name="">
            <a:extLst xmlns:a="http://schemas.openxmlformats.org/drawingml/2006/main">
              <a:ext uri="{FF2B5EF4-FFF2-40B4-BE49-F238E27FC236}">
                <a16:creationId xmlns:a16="http://schemas.microsoft.com/office/drawing/2014/main" id="{46B0A933-A87D-4F5B-9C70-2823E066F049}"/>
              </a:ext>
            </a:extLst>
          </p:cNvPr>
          <p:cNvSpPr>
            <a:spLocks xmlns:a="http://schemas.openxmlformats.org/drawingml/2006/main" noGrp="1"/>
          </p:cNvSpPr>
          <p:nvPr/>
        </p:nvSpPr>
        <p:spPr>
          <a:xfrm xmlns:a="http://schemas.openxmlformats.org/drawingml/2006/main">
            <a:off x="609600" y="2667000"/>
            <a:ext cx="657225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0">
                <a:solidFill>
                  <a:srgbClr val="18243B"/>
                </a:solidFill>
                <a:latin typeface="DejaVu Sans"/>
                <a:ea typeface="DejaVu Sans"/>
                <a:cs typeface="DejaVu Sans"/>
              </a:defRPr>
            </a:defPPr>
          </a:lstStyle>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A course is uniquely identified by subject and number.</a:t>
            </a:r>
          </a:p>
          <a:p xmlns:a="http://schemas.openxmlformats.org/drawingml/2006/main">
            <a:r>
              <a:t/>
            </a:r>
          </a:p>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Each requirement instance belongs to one curriculum.</a:t>
            </a:r>
          </a:p>
          <a:p xmlns:a="http://schemas.openxmlformats.org/drawingml/2006/main">
            <a:r>
              <a:t/>
            </a:r>
          </a:p>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Completion uses a yes/no record. Grade thresholds are outside the initial model.</a:t>
            </a:r>
          </a:p>
          <a:p xmlns:a="http://schemas.openxmlformats.org/drawingml/2006/main">
            <a:r>
              <a:t/>
            </a:r>
          </a:p>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Rules use ALL, ANY, or AT_LEAST across course and extra-completion items.</a:t>
            </a:r>
          </a:p>
        </p:txBody>
      </p:sp>
      <p:sp>
        <p:nvSpPr>
          <p:cNvPr id="6" name="">
            <a:extLst xmlns:a="http://schemas.openxmlformats.org/drawingml/2006/main">
              <a:ext uri="{FF2B5EF4-FFF2-40B4-BE49-F238E27FC236}">
                <a16:creationId xmlns:a16="http://schemas.microsoft.com/office/drawing/2014/main" id="{D4C1A43D-3C9A-4645-81E2-8706B16FD96F}"/>
              </a:ext>
            </a:extLst>
          </p:cNvPr>
          <p:cNvSpPr>
            <a:spLocks xmlns:a="http://schemas.openxmlformats.org/drawingml/2006/main" noGrp="1"/>
          </p:cNvSpPr>
          <p:nvPr/>
        </p:nvSpPr>
        <p:spPr>
          <a:xfrm xmlns:a="http://schemas.openxmlformats.org/drawingml/2006/main">
            <a:off x="8134350" y="1981200"/>
            <a:ext cx="649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3633A6"/>
                </a:solidFill>
                <a:latin typeface="DejaVu Sans"/>
                <a:ea typeface="DejaVu Sans"/>
                <a:cs typeface="DejaVu Sans"/>
              </a:defRPr>
            </a:defPPr>
          </a:lstStyle>
          <a:p xmlns:a="http://schemas.openxmlformats.org/drawingml/2006/main">
            <a:pPr algn="l">
              <a:defRPr sz="2400" b="1">
                <a:solidFill>
                  <a:srgbClr val="3633A6"/>
                </a:solidFill>
                <a:latin typeface="DejaVu Sans"/>
                <a:ea typeface="DejaVu Sans"/>
                <a:cs typeface="DejaVu Sans"/>
              </a:defRPr>
            </a:pPr>
            <a:r>
              <a:rPr sz="2400" b="1">
                <a:solidFill>
                  <a:srgbClr val="3633A6"/>
                </a:solidFill>
                <a:latin typeface="DejaVu Sans"/>
                <a:ea typeface="DejaVu Sans"/>
                <a:cs typeface="DejaVu Sans"/>
              </a:rPr>
              <a:t>Open questions</a:t>
            </a:r>
          </a:p>
        </p:txBody>
      </p:sp>
      <p:sp>
        <p:nvSpPr>
          <p:cNvPr id="7" name="">
            <a:extLst xmlns:a="http://schemas.openxmlformats.org/drawingml/2006/main">
              <a:ext uri="{FF2B5EF4-FFF2-40B4-BE49-F238E27FC236}">
                <a16:creationId xmlns:a16="http://schemas.microsoft.com/office/drawing/2014/main" id="{282831AF-DBCD-4FBF-BADF-CBE6C4C9AF5E}"/>
              </a:ext>
            </a:extLst>
          </p:cNvPr>
          <p:cNvSpPr>
            <a:spLocks xmlns:a="http://schemas.openxmlformats.org/drawingml/2006/main" noGrp="1"/>
          </p:cNvSpPr>
          <p:nvPr/>
        </p:nvSpPr>
        <p:spPr>
          <a:xfrm xmlns:a="http://schemas.openxmlformats.org/drawingml/2006/main">
            <a:off x="8134350" y="2667000"/>
            <a:ext cx="6496050" cy="447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0">
                <a:solidFill>
                  <a:srgbClr val="18243B"/>
                </a:solidFill>
                <a:latin typeface="DejaVu Sans"/>
                <a:ea typeface="DejaVu Sans"/>
                <a:cs typeface="DejaVu Sans"/>
              </a:defRPr>
            </a:defPPr>
          </a:lstStyle>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Can one course satisfy multiple requirements?</a:t>
            </a:r>
          </a:p>
          <a:p xmlns:a="http://schemas.openxmlformats.org/drawingml/2006/main">
            <a:r>
              <a:t/>
            </a:r>
          </a:p>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Do prerequisites require AND/OR groups or concurrent enrollment?</a:t>
            </a:r>
          </a:p>
          <a:p xmlns:a="http://schemas.openxmlformats.org/drawingml/2006/main">
            <a:r>
              <a:t/>
            </a:r>
          </a:p>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Should plans include semester availability and credit limits?</a:t>
            </a:r>
          </a:p>
          <a:p xmlns:a="http://schemas.openxmlformats.org/drawingml/2006/main">
            <a:r>
              <a:t/>
            </a:r>
          </a:p>
          <a:p xmlns:a="http://schemas.openxmlformats.org/drawingml/2006/main">
            <a:pPr algn="l">
              <a:defRPr sz="1950" b="0">
                <a:solidFill>
                  <a:srgbClr val="18243B"/>
                </a:solidFill>
                <a:latin typeface="DejaVu Sans"/>
                <a:ea typeface="DejaVu Sans"/>
                <a:cs typeface="DejaVu Sans"/>
              </a:defRPr>
            </a:pPr>
            <a:r>
              <a:rPr sz="1950" b="0">
                <a:solidFill>
                  <a:srgbClr val="18243B"/>
                </a:solidFill>
                <a:latin typeface="DejaVu Sans"/>
                <a:ea typeface="DejaVu Sans"/>
                <a:cs typeface="DejaVu Sans"/>
              </a:rPr>
              <a:t>If planning grows complex, should a separate Planner component own it?</a:t>
            </a:r>
          </a:p>
        </p:txBody>
      </p:sp>
    </p:spTree>
    <p:extLst>
      <p:ext uri="{BB962C8B-B14F-4D97-AF65-F5344CB8AC3E}">
        <p14:creationId xmlns:p14="http://schemas.microsoft.com/office/powerpoint/2010/main" val="2113289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2026-10-16T03:42:20.1840000Z</dcterms:created>
  <dcterms:modified xsi:type="dcterms:W3CDTF">2026-10-16T03:42:20.1840000Z</dcterms:modified>
</coreProperties>
</file>